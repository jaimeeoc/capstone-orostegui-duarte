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6" r:id="rId11"/>
    <p:sldId id="267" r:id="rId12"/>
    <p:sldId id="264" r:id="rId13"/>
  </p:sldIdLst>
  <p:sldSz cx="14630400" cy="8229600"/>
  <p:notesSz cx="8229600" cy="14630400"/>
  <p:embeddedFontLst>
    <p:embeddedFont>
      <p:font typeface="Arimo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9BD9"/>
    <a:srgbClr val="2B70B7"/>
    <a:srgbClr val="2B24B6"/>
    <a:srgbClr val="1B1773"/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7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1BC1-1FD6-5686-7FA8-3AA9CAC8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DA666-2BAF-A04B-9BBD-574E0490A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56048-B562-1B26-A14E-4F18B63DD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448A5-DC58-3A9C-9FE0-FC226313F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77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67F4-BBE9-ACD6-437A-4BAADFA8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3F262-A714-D92A-8846-089ABEB32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B495C-D6A4-6B2E-7B21-0C24868D2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4C129-1351-7D6F-A611-9F0368B83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18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2021-71D5-5CC5-4666-5B65D6EB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FB416-B128-1FC1-2A9D-DDBDCC56B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9DF00-5488-DB03-8286-AC1F05DBD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B1D69-B1AA-3F71-0738-EB91686FD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43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87748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Sistema Web para Evaluar Desempeño Logístico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58772"/>
            <a:ext cx="746855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Autores:</a:t>
            </a:r>
            <a:r>
              <a:rPr lang="en-US" sz="23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Jazmín Duarte &amp; Jaime Oróstegui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324124" y="520660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Carrera:</a:t>
            </a: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Ingeniería en Informática – DUOC UC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585882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Asignatura:</a:t>
            </a: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Capstone (APT122)</a:t>
            </a:r>
            <a:endParaRPr lang="en-US" sz="185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2DFFAC6-2EA3-C9F6-C6D3-124BAC8BF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2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59130"/>
            <a:ext cx="5236726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Contexto y Relevancia</a:t>
            </a:r>
            <a:endParaRPr lang="en-US" sz="33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120B1CD-AEF6-3E19-67B0-5EB3F1943D28}"/>
              </a:ext>
            </a:extLst>
          </p:cNvPr>
          <p:cNvGrpSpPr/>
          <p:nvPr/>
        </p:nvGrpSpPr>
        <p:grpSpPr>
          <a:xfrm>
            <a:off x="837724" y="1599932"/>
            <a:ext cx="12954952" cy="1304806"/>
            <a:chOff x="837724" y="2322433"/>
            <a:chExt cx="12954952" cy="1304806"/>
          </a:xfrm>
        </p:grpSpPr>
        <p:sp>
          <p:nvSpPr>
            <p:cNvPr id="4" name="Shape 2"/>
            <p:cNvSpPr/>
            <p:nvPr/>
          </p:nvSpPr>
          <p:spPr>
            <a:xfrm>
              <a:off x="837724" y="2322433"/>
              <a:ext cx="6387703" cy="1304806"/>
            </a:xfrm>
            <a:prstGeom prst="roundRect">
              <a:avLst>
                <a:gd name="adj" fmla="val 2064"/>
              </a:avLst>
            </a:prstGeom>
            <a:solidFill>
              <a:srgbClr val="2B295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17151" y="2501860"/>
              <a:ext cx="2112169" cy="2639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El Problema</a:t>
              </a:r>
              <a:endParaRPr lang="en-US" sz="16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17151" y="2873454"/>
              <a:ext cx="6028849" cy="57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Evaluaciones manuales sin indicadores objetivos, limitando el control de calidad y la toma de decisiones estratégica.</a:t>
              </a:r>
              <a:endParaRPr lang="en-US" sz="14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404854" y="2322433"/>
              <a:ext cx="6387822" cy="1304806"/>
            </a:xfrm>
            <a:prstGeom prst="roundRect">
              <a:avLst>
                <a:gd name="adj" fmla="val 2064"/>
              </a:avLst>
            </a:prstGeom>
            <a:solidFill>
              <a:srgbClr val="2B295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7584281" y="2501860"/>
              <a:ext cx="2112169" cy="2639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650" b="1" dirty="0">
                  <a:solidFill>
                    <a:srgbClr val="D9E1FF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Nuestra Solución</a:t>
              </a:r>
              <a:endParaRPr lang="en-US" sz="16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584281" y="2873454"/>
              <a:ext cx="6028968" cy="5743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D9E1FF"/>
                  </a:solidFill>
                  <a:latin typeface="Arimo" pitchFamily="34" charset="0"/>
                  <a:ea typeface="Arimo" pitchFamily="34" charset="-122"/>
                  <a:cs typeface="Arimo" pitchFamily="34" charset="-120"/>
                </a:rPr>
                <a:t>Plataforma web que automatiza la gestión del desempeño, proporciona dashboards en tiempo real y facilita análisis de datos operacionales.</a:t>
              </a:r>
              <a:endParaRPr lang="en-US" sz="14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837724" y="3287344"/>
            <a:ext cx="12954952" cy="30004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7724" y="3694986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Objetivo General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37724" y="4281012"/>
            <a:ext cx="12954952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Diseñar e implementar una aplicación web que gestione y evalúe el desempeño del personal logístico, optimizando procesos y facilitando la toma de decisiones basada en datos.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7724" y="5124570"/>
            <a:ext cx="2979182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Objetivos Específicos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37724" y="5710595"/>
            <a:ext cx="12954952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Registrar empleados, supervisores y asignar tareas automáticamente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724" y="6060520"/>
            <a:ext cx="12954952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Implementar dashboards interactivos con KPIs de productividad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7724" y="6410445"/>
            <a:ext cx="12954952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Generar reportes automáticos en formatos PDF y Excel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7724" y="6760369"/>
            <a:ext cx="12954952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Evaluar el impacto del sistema en la eficiencia operativa</a:t>
            </a:r>
            <a:endParaRPr lang="en-US" sz="14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0F7EB15-CB18-78E7-8627-91E6791411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2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828556" y="1921669"/>
            <a:ext cx="3636883" cy="3227784"/>
          </a:xfrm>
          <a:prstGeom prst="roundRect">
            <a:avLst>
              <a:gd name="adj" fmla="val 3399"/>
            </a:avLst>
          </a:prstGeom>
          <a:solidFill>
            <a:srgbClr val="1B17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78442" y="1921669"/>
            <a:ext cx="3637002" cy="3227784"/>
          </a:xfrm>
          <a:prstGeom prst="roundRect">
            <a:avLst>
              <a:gd name="adj" fmla="val 3399"/>
            </a:avLst>
          </a:prstGeom>
          <a:solidFill>
            <a:srgbClr val="1B17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8556" y="5682020"/>
            <a:ext cx="7486888" cy="1891546"/>
          </a:xfrm>
          <a:prstGeom prst="roundRect">
            <a:avLst>
              <a:gd name="adj" fmla="val 5801"/>
            </a:avLst>
          </a:prstGeom>
          <a:solidFill>
            <a:srgbClr val="1B17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8556" y="655915"/>
            <a:ext cx="6543437" cy="626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Metodología de Trabajo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828556" y="1898809"/>
            <a:ext cx="3636883" cy="91440"/>
          </a:xfrm>
          <a:prstGeom prst="roundRect">
            <a:avLst>
              <a:gd name="adj" fmla="val 34953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327434" y="1602105"/>
            <a:ext cx="639127" cy="639127"/>
          </a:xfrm>
          <a:prstGeom prst="roundRect">
            <a:avLst>
              <a:gd name="adj" fmla="val 143070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19124" y="1761887"/>
            <a:ext cx="255627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64419" y="2454354"/>
            <a:ext cx="2887861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Metodología Kanban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64419" y="2895362"/>
            <a:ext cx="3165158" cy="136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Tablero visual para priorizar tareas, permitiendo identificar cuellos de botella y optimizar el flujo de trabajo entre integrantes.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4678442" y="1898809"/>
            <a:ext cx="3637002" cy="91440"/>
          </a:xfrm>
          <a:prstGeom prst="roundRect">
            <a:avLst>
              <a:gd name="adj" fmla="val 34953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77320" y="1602105"/>
            <a:ext cx="639127" cy="639127"/>
          </a:xfrm>
          <a:prstGeom prst="roundRect">
            <a:avLst>
              <a:gd name="adj" fmla="val 143070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69010" y="1761887"/>
            <a:ext cx="255627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14305" y="2454354"/>
            <a:ext cx="3165277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Comunicación Constante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4914184" y="2846844"/>
            <a:ext cx="3165277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Reuniones semanales de seguimiento y revisión, asegurando alineación entre backend (Jaime) y frontend (Jazmín).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828556" y="5659160"/>
            <a:ext cx="7486888" cy="91440"/>
          </a:xfrm>
          <a:prstGeom prst="roundRect">
            <a:avLst>
              <a:gd name="adj" fmla="val 34953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52436" y="5362456"/>
            <a:ext cx="639127" cy="639127"/>
          </a:xfrm>
          <a:prstGeom prst="roundRect">
            <a:avLst>
              <a:gd name="adj" fmla="val 143070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444127" y="5522238"/>
            <a:ext cx="255627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64419" y="6214705"/>
            <a:ext cx="3279934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Colaboración Full Stack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64419" y="6655713"/>
            <a:ext cx="7015163" cy="68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Distribución clara de responsabilidades: desarrollo backend con Django y lógica de negocio, frontend con React e interfaz de usuario.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104" y="652224"/>
            <a:ext cx="4782622" cy="52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Etapas de Desarrollo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830104" y="1531025"/>
            <a:ext cx="177879" cy="1067276"/>
          </a:xfrm>
          <a:prstGeom prst="roundRect">
            <a:avLst>
              <a:gd name="adj" fmla="val 1500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85863" y="1708904"/>
            <a:ext cx="3094434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Análisis de Requerimientos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5863" y="2077164"/>
            <a:ext cx="12614434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Historias de usuario detalladas, definición del alcance, identificación de stakeholders y requisitos funcionales y no funcionales.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6923" y="2776180"/>
            <a:ext cx="177879" cy="1067276"/>
          </a:xfrm>
          <a:prstGeom prst="roundRect">
            <a:avLst>
              <a:gd name="adj" fmla="val 1500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52682" y="2954060"/>
            <a:ext cx="209276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 err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Diseño</a:t>
            </a: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Técnico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52682" y="3322320"/>
            <a:ext cx="12347615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Modelo de datos relacional, diagramas UML de casos de uso, mockups de interfaz y arquitectura de la solución.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63742" y="4021336"/>
            <a:ext cx="177879" cy="1067276"/>
          </a:xfrm>
          <a:prstGeom prst="roundRect">
            <a:avLst>
              <a:gd name="adj" fmla="val 1500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19501" y="4199215"/>
            <a:ext cx="2251353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Desarrollo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9501" y="4567476"/>
            <a:ext cx="1208079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Implementación de lógica de negocio, APIs REST, autenticación de usuarios y conexión segura a base de datos.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30561" y="5266492"/>
            <a:ext cx="177879" cy="1067276"/>
          </a:xfrm>
          <a:prstGeom prst="roundRect">
            <a:avLst>
              <a:gd name="adj" fmla="val 1500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86320" y="5444371"/>
            <a:ext cx="2275880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Desarrollo 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86320" y="5812631"/>
            <a:ext cx="11813977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Vistas responsivas en React, integración con APIs, validaciones de formularios e interfaz intuitiva para usuarios.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63742" y="6511647"/>
            <a:ext cx="177879" cy="1067276"/>
          </a:xfrm>
          <a:prstGeom prst="roundRect">
            <a:avLst>
              <a:gd name="adj" fmla="val 1500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19501" y="6689527"/>
            <a:ext cx="2405301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Pruebas y Validación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19501" y="7057787"/>
            <a:ext cx="1208079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Pruebas funcionales de login, creación de tareas, reportes y dashboards. Validación de permisos y roles de usuario.</a:t>
            </a:r>
            <a:endParaRPr lang="en-US" sz="14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80BE08D-ED49-52B6-6B6F-4F79E19F1B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2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084421"/>
            <a:ext cx="7468553" cy="133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Dificultades y Soluciones Implementadas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324124" y="2990493"/>
            <a:ext cx="297132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Desafíos Principales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324124" y="3552230"/>
            <a:ext cx="3456861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Compatibilidad entre librerías </a:t>
            </a:r>
            <a:r>
              <a:rPr lang="en-US" sz="17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React y Django</a:t>
            </a:r>
            <a:endParaRPr lang="en-US" sz="1750" b="1" dirty="0"/>
          </a:p>
        </p:txBody>
      </p:sp>
      <p:sp>
        <p:nvSpPr>
          <p:cNvPr id="6" name="Text 3"/>
          <p:cNvSpPr/>
          <p:nvPr/>
        </p:nvSpPr>
        <p:spPr>
          <a:xfrm>
            <a:off x="6324124" y="4359473"/>
            <a:ext cx="3456861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Limitaciones de tiempo por práctica profesional simultánea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24124" y="5314814"/>
            <a:ext cx="3456861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Optimización de consultas de base de datos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24124" y="6122058"/>
            <a:ext cx="3456861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Gestión de autenticación y roles diferenciados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3436" y="2990493"/>
            <a:ext cx="3198733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Estrategias Aplicadas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343436" y="3552230"/>
            <a:ext cx="3456861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Integración temprana de módulos para detectar incompatibilidades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3436" y="4723328"/>
            <a:ext cx="3456861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Optimización de </a:t>
            </a:r>
            <a:r>
              <a:rPr lang="en-US" sz="17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consultas SQL </a:t>
            </a: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 componentes visuales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3436" y="5530572"/>
            <a:ext cx="3456861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Validaciones adicionales en capas de autenticación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3436" y="6337816"/>
            <a:ext cx="3456861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Refactorización de código para mantener escalabilidad</a:t>
            </a:r>
            <a:endParaRPr lang="en-US" sz="175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E88D7F4-CC55-1327-0C68-B40B9B79A3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2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793" y="657225"/>
            <a:ext cx="4954548" cy="61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Casos de Uso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818793" y="1478636"/>
            <a:ext cx="12992814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 sistema define cuatro roles principales con responsabilidades específicas: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18793" y="2092645"/>
            <a:ext cx="6391156" cy="2723910"/>
          </a:xfrm>
          <a:prstGeom prst="roundRect">
            <a:avLst>
              <a:gd name="adj" fmla="val 1241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653" y="2129831"/>
            <a:ext cx="6345436" cy="631627"/>
          </a:xfrm>
          <a:prstGeom prst="roundRect">
            <a:avLst>
              <a:gd name="adj" fmla="val 65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2155" y="3046392"/>
            <a:ext cx="2477214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Administrador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52155" y="3482399"/>
            <a:ext cx="5924431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s-CL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administrador, quiero registrar y gestionar las cuentas de los empleados y supervisores, para mantener el control de acceso y los roles dentro del sistema.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20451" y="2092643"/>
            <a:ext cx="6391156" cy="2723911"/>
          </a:xfrm>
          <a:prstGeom prst="roundRect">
            <a:avLst>
              <a:gd name="adj" fmla="val 1241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43311" y="2129831"/>
            <a:ext cx="6345436" cy="631627"/>
          </a:xfrm>
          <a:prstGeom prst="roundRect">
            <a:avLst>
              <a:gd name="adj" fmla="val 65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53814" y="3046392"/>
            <a:ext cx="2477214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Supervisor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53814" y="3482399"/>
            <a:ext cx="5924431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s-CL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supervisor, quiero asignar tareas a los empleados y visualizar su progreso, para evaluar el cumplimiento y la productividad del equipo.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18793" y="5027057"/>
            <a:ext cx="6391156" cy="2723911"/>
          </a:xfrm>
          <a:prstGeom prst="roundRect">
            <a:avLst>
              <a:gd name="adj" fmla="val 1241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653" y="5049917"/>
            <a:ext cx="6345436" cy="631627"/>
          </a:xfrm>
          <a:prstGeom prst="roundRect">
            <a:avLst>
              <a:gd name="adj" fmla="val 65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2155" y="5892046"/>
            <a:ext cx="2477214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Empleado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52155" y="6328053"/>
            <a:ext cx="5924431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s-CL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empleado, quiero consultar mis tareas asignadas y marcar las que ya he completado, para mantener actualizada mi carga de trabajo y reportar mi desempeño.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420451" y="5027057"/>
            <a:ext cx="6391156" cy="2723911"/>
          </a:xfrm>
          <a:prstGeom prst="roundRect">
            <a:avLst>
              <a:gd name="adj" fmla="val 1241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43311" y="5049917"/>
            <a:ext cx="6345436" cy="631627"/>
          </a:xfrm>
          <a:prstGeom prst="roundRect">
            <a:avLst>
              <a:gd name="adj" fmla="val 65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53814" y="5892046"/>
            <a:ext cx="2771299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 err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Administrador</a:t>
            </a: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o Supervisor (</a:t>
            </a:r>
            <a:r>
              <a:rPr lang="en-US" sz="1950" b="1" dirty="0" err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Reportes</a:t>
            </a: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53814" y="6328053"/>
            <a:ext cx="5924431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s-CL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administrador o supervisor, quiero generar reportes automáticos y </a:t>
            </a:r>
            <a:r>
              <a:rPr lang="es-CL" sz="16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dashboards</a:t>
            </a:r>
            <a:r>
              <a:rPr lang="es-CL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 indicadores de productividad, para analizar el rendimiento y tomar decisiones basadas en datos.</a:t>
            </a:r>
            <a:endParaRPr lang="en-US" sz="165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349E51B-E5E5-851D-FE87-B0CA18EE95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2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716BBE6E-03E6-004E-4069-413E7D22AF08}"/>
              </a:ext>
            </a:extLst>
          </p:cNvPr>
          <p:cNvSpPr/>
          <p:nvPr/>
        </p:nvSpPr>
        <p:spPr>
          <a:xfrm>
            <a:off x="1458956" y="3873222"/>
            <a:ext cx="6847321" cy="2578948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837724" y="246518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Diagrama de Casos de Uso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2280863" y="4232195"/>
            <a:ext cx="6025414" cy="221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s-CL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Interacciones entre los actores del sistema </a:t>
            </a:r>
          </a:p>
          <a:p>
            <a:pPr marL="1257300" lvl="2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s-CL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Administrador</a:t>
            </a:r>
          </a:p>
          <a:p>
            <a:pPr marL="1257300" lvl="2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s-CL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Supervisor </a:t>
            </a:r>
          </a:p>
          <a:p>
            <a:pPr marL="1257300" lvl="2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s-CL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Empleado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s-CL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 las funcionalidades clave que ofrece la aplicación.</a:t>
            </a:r>
            <a:endParaRPr lang="en-US" sz="18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AA0CB9-AB2C-AF4A-576B-3555846BE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029" y="0"/>
            <a:ext cx="462337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10" y="814983"/>
            <a:ext cx="6962537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Resultados Alcanzados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01410" y="1946315"/>
            <a:ext cx="4189809" cy="2396847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0367" y="2175272"/>
            <a:ext cx="2693908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Base de Datos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30367" y="2649260"/>
            <a:ext cx="3731895" cy="146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Modelo relacional escalable, adaptable a contextos logísticos diversos y normas de integridad referencial.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220176" y="1946315"/>
            <a:ext cx="4189928" cy="2396847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9133" y="2175272"/>
            <a:ext cx="2734747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Sistema Funcional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49133" y="2649260"/>
            <a:ext cx="3732014" cy="1464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Perfiles diferenciados con autenticación segura: Administrador, Supervisor y Empleado con permisos específicos.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39062" y="1946315"/>
            <a:ext cx="4189928" cy="2396847"/>
          </a:xfrm>
          <a:prstGeom prst="roundRect">
            <a:avLst>
              <a:gd name="adj" fmla="val 143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8019" y="2175272"/>
            <a:ext cx="2693908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Gestión de Tareas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68019" y="2649260"/>
            <a:ext cx="3732014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Creación y asignación de tareas de supervisor a </a:t>
            </a:r>
            <a:r>
              <a:rPr lang="en-US" sz="18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empleado</a:t>
            </a: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1410" y="4715092"/>
            <a:ext cx="13027581" cy="36195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1410" y="5094565"/>
            <a:ext cx="510921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Próximas Implementaciones</a:t>
            </a:r>
            <a:endParaRPr lang="en-US" sz="2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254" y="5849005"/>
            <a:ext cx="343376" cy="3433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45550" y="5841921"/>
            <a:ext cx="3634740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Dashboards Interactivos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545550" y="6315908"/>
            <a:ext cx="5626537" cy="73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KPIs de productividad, tasa de cumplimiento, desempeño por supervisor y análisis de tendencias.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4157" y="5849005"/>
            <a:ext cx="343376" cy="3433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02454" y="5841921"/>
            <a:ext cx="3329345" cy="336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Reportes Automáticos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8202454" y="6315908"/>
            <a:ext cx="5626537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Generación programada en PDF y Excel, gráficos estadísticos y exportación de datos para análisis estratégico.</a:t>
            </a:r>
            <a:endParaRPr lang="en-US" sz="18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1FCDF42-1865-68CF-4832-CFB564BB0B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2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7D5-36C6-377F-1FFE-2D465BE9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404CF9D-EF62-7399-133F-59D6D32219F4}"/>
              </a:ext>
            </a:extLst>
          </p:cNvPr>
          <p:cNvSpPr/>
          <p:nvPr/>
        </p:nvSpPr>
        <p:spPr>
          <a:xfrm>
            <a:off x="591144" y="43090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CL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E</a:t>
            </a:r>
            <a:r>
              <a:rPr lang="en-US" sz="44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videncias</a:t>
            </a:r>
            <a:endParaRPr lang="en-US" sz="4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93A0DE-A05E-5592-820F-1664516FD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07" y="1801332"/>
            <a:ext cx="4685649" cy="56768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D8DF3B-4E73-5715-D92C-54868A685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99" y="506120"/>
            <a:ext cx="8704094" cy="6934448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AAD00EC3-3B97-428F-BE20-698F6D2180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3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45958C6F-8CCF-6963-C1BE-9C6D6917F54A}"/>
              </a:ext>
            </a:extLst>
          </p:cNvPr>
          <p:cNvSpPr/>
          <p:nvPr/>
        </p:nvSpPr>
        <p:spPr>
          <a:xfrm rot="13565640">
            <a:off x="4772077" y="4169106"/>
            <a:ext cx="690125" cy="664854"/>
          </a:xfrm>
          <a:prstGeom prst="rtTriangle">
            <a:avLst/>
          </a:prstGeom>
          <a:solidFill>
            <a:srgbClr val="5D9B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3541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42D2-8314-81D7-0BF4-4E2FBCEF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C0300FE-F064-1D8B-44C3-9F22AC46A13C}"/>
              </a:ext>
            </a:extLst>
          </p:cNvPr>
          <p:cNvSpPr/>
          <p:nvPr/>
        </p:nvSpPr>
        <p:spPr>
          <a:xfrm>
            <a:off x="591144" y="43090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CL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E</a:t>
            </a:r>
            <a:r>
              <a:rPr lang="en-US" sz="44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videncias</a:t>
            </a:r>
            <a:endParaRPr lang="en-US" sz="4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BD22B8-4565-BDDF-97E7-CA83BB3EC3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3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CBEB9BD2-1422-B284-836B-9101FF4A6410}"/>
              </a:ext>
            </a:extLst>
          </p:cNvPr>
          <p:cNvSpPr/>
          <p:nvPr/>
        </p:nvSpPr>
        <p:spPr>
          <a:xfrm rot="13565640">
            <a:off x="4772077" y="4169106"/>
            <a:ext cx="690125" cy="664854"/>
          </a:xfrm>
          <a:prstGeom prst="rtTriangle">
            <a:avLst/>
          </a:prstGeom>
          <a:solidFill>
            <a:srgbClr val="5D9B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A4A2DF-A6A2-7C12-EB57-2E85D545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9596"/>
            <a:ext cx="14630400" cy="621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3F7F-EEA1-5F4C-2C76-5616AAB6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3366E0F-4692-840B-D14C-4FFE6C3D7CE6}"/>
              </a:ext>
            </a:extLst>
          </p:cNvPr>
          <p:cNvSpPr/>
          <p:nvPr/>
        </p:nvSpPr>
        <p:spPr>
          <a:xfrm>
            <a:off x="591144" y="43090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s-CL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E</a:t>
            </a:r>
            <a:r>
              <a:rPr lang="en-US" sz="44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videncias</a:t>
            </a:r>
            <a:endParaRPr lang="en-US" sz="4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91C8776-D23F-A0D0-2352-D0FFEFDC2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832423" y="7750968"/>
            <a:ext cx="1797977" cy="478632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BA95F1B6-A11E-6F35-F248-94757D4B3888}"/>
              </a:ext>
            </a:extLst>
          </p:cNvPr>
          <p:cNvSpPr/>
          <p:nvPr/>
        </p:nvSpPr>
        <p:spPr>
          <a:xfrm rot="18946347">
            <a:off x="11721646" y="3782372"/>
            <a:ext cx="690125" cy="664854"/>
          </a:xfrm>
          <a:prstGeom prst="rtTriangle">
            <a:avLst/>
          </a:prstGeom>
          <a:solidFill>
            <a:srgbClr val="5D9B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74113F-C95F-8419-3991-13D2D34FD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44" y="1134922"/>
            <a:ext cx="10582275" cy="33718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70B576-7523-529E-E82B-993346198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449" y="4889311"/>
            <a:ext cx="101060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2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5462" y="657463"/>
            <a:ext cx="6804422" cy="56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Proyecciones Profesionales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835462" y="1505426"/>
            <a:ext cx="3641050" cy="2279809"/>
          </a:xfrm>
          <a:prstGeom prst="roundRect">
            <a:avLst>
              <a:gd name="adj" fmla="val 20104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6319" y="1696283"/>
            <a:ext cx="3259336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Competencias Desarrolladas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6319" y="2144753"/>
            <a:ext cx="3259336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stack development, gestión de datos, planificación ágil y comunicación técnica en equipos multidisciplinarios.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7369" y="1505426"/>
            <a:ext cx="3641169" cy="2279809"/>
          </a:xfrm>
          <a:prstGeom prst="roundRect">
            <a:avLst>
              <a:gd name="adj" fmla="val 20104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58226" y="1696283"/>
            <a:ext cx="321837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Especializaciones Futuras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8226" y="2091571"/>
            <a:ext cx="3259455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Análisis de datos avanzado, seguridad de software, consultoría tecnológica y transformación digital empresarial.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5462" y="3976092"/>
            <a:ext cx="7473077" cy="1388031"/>
          </a:xfrm>
          <a:prstGeom prst="roundRect">
            <a:avLst>
              <a:gd name="adj" fmla="val 3302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6319" y="4166949"/>
            <a:ext cx="2246709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Impacto Real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26319" y="4562237"/>
            <a:ext cx="7091363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Este proyecto es una solución aplicable al contexto logístico real, integrando desarrollo técnico, análisis operacional y gestión estratégica.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5462" y="5674280"/>
            <a:ext cx="7473077" cy="31433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21807" y="6135172"/>
            <a:ext cx="7186732" cy="1222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Conclusión:</a:t>
            </a: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 informática no solo aporta valor técnico, sino también humano, transformando la eficiencia operativa de las organizaciones y mejorando la calidad de vida de sus colaboradores a través de procesos automatizados y decisiones basadas en datos.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5462" y="5920383"/>
            <a:ext cx="22860" cy="1651635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747</Words>
  <Application>Microsoft Office PowerPoint</Application>
  <PresentationFormat>Personalizado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Arimo</vt:lpstr>
      <vt:lpstr>Syne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DUARTE Jazmin</cp:lastModifiedBy>
  <cp:revision>2</cp:revision>
  <dcterms:created xsi:type="dcterms:W3CDTF">2025-10-17T18:20:13Z</dcterms:created>
  <dcterms:modified xsi:type="dcterms:W3CDTF">2025-10-17T18:59:39Z</dcterms:modified>
</cp:coreProperties>
</file>