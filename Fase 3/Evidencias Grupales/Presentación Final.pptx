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lexandria Medium" panose="020B0604020202020204" charset="-78"/>
      <p:regular r:id="rId13"/>
    </p:embeddedFont>
    <p:embeddedFont>
      <p:font typeface="Manrope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2343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sv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34.png"/><Relationship Id="rId18" Type="http://schemas.openxmlformats.org/officeDocument/2006/relationships/image" Target="../media/image3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7.sv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Relationship Id="rId14" Type="http://schemas.openxmlformats.org/officeDocument/2006/relationships/image" Target="../media/image3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227566"/>
            <a:ext cx="7556421" cy="159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Sistema Web para Gestión y Evaluación del Desempeño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98514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Presentación final de nuestro proyecto Capstone, donde exploramos una solución innovadora para la gestión del talento en el sector logístico.</a:t>
            </a:r>
            <a:endParaRPr lang="en-US" sz="175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CAE9632E-2BE0-6297-5AF5-B7EAA9467611}"/>
              </a:ext>
            </a:extLst>
          </p:cNvPr>
          <p:cNvSpPr/>
          <p:nvPr/>
        </p:nvSpPr>
        <p:spPr>
          <a:xfrm>
            <a:off x="793790" y="1906561"/>
            <a:ext cx="5228579" cy="986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 err="1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LogísticaHR</a:t>
            </a:r>
            <a:endParaRPr lang="en-US" sz="4450" b="1" dirty="0">
              <a:solidFill>
                <a:srgbClr val="5B6E8C"/>
              </a:solidFill>
              <a:latin typeface="Alexandria Medium" pitchFamily="34" charset="0"/>
              <a:ea typeface="Alexandria Medium" pitchFamily="34" charset="-122"/>
              <a:cs typeface="Alexandria Medium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1867"/>
            <a:ext cx="3892629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Integrantes del Proyecto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465421"/>
            <a:ext cx="4429363" cy="44293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073378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Jazmín Duarte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793790" y="6529745"/>
            <a:ext cx="63278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Líder de Documentación y Desarrolladora Full-Stack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93790" y="6926699"/>
            <a:ext cx="6327815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Experta en la organización y estructuración de proyectos, con habilidades clave en el desarrollo web integral.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416" y="1465421"/>
            <a:ext cx="4429363" cy="44293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16416" y="6073378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Jaime Orostegui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7516416" y="6529745"/>
            <a:ext cx="63278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Desarrollador Full-Stack y Especialista en Pruebas Automatizadas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516416" y="6926699"/>
            <a:ext cx="6327815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cargo de la implementación técnica y aseguramiento de la calidad del software mediante pruebas robustas.</a:t>
            </a:r>
            <a:endParaRPr lang="en-US" sz="125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D6E3A83-4EAE-CF16-304A-C34552E1BC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791326" y="7633699"/>
            <a:ext cx="1839074" cy="5959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57344"/>
            <a:ext cx="564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Descripción del Proyecto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6280190" y="1564481"/>
            <a:ext cx="7556421" cy="2890480"/>
          </a:xfrm>
          <a:prstGeom prst="roundRect">
            <a:avLst>
              <a:gd name="adj" fmla="val 5062"/>
            </a:avLst>
          </a:prstGeom>
          <a:solidFill>
            <a:srgbClr val="FFFFFF"/>
          </a:solidFill>
          <a:ln w="30480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710" y="1564481"/>
            <a:ext cx="121920" cy="2890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28924" y="182177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El Problema</a:t>
            </a:r>
            <a:endParaRPr lang="en-US" sz="2650" dirty="0"/>
          </a:p>
        </p:txBody>
      </p:sp>
      <p:sp>
        <p:nvSpPr>
          <p:cNvPr id="7" name="Text 3"/>
          <p:cNvSpPr/>
          <p:nvPr/>
        </p:nvSpPr>
        <p:spPr>
          <a:xfrm>
            <a:off x="6628924" y="2383155"/>
            <a:ext cx="695039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 el área logística, la información dispersa, los registros duplicados y la falta de un sistema unificado dificultaban la gestión de tareas, supervisión del desempeño y medición de KPIs. Esto generaba retrasos, falta de trazabilidad y una evaluación del personal poco objetiva.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6280190" y="4681776"/>
            <a:ext cx="7556421" cy="2890480"/>
          </a:xfrm>
          <a:prstGeom prst="roundRect">
            <a:avLst>
              <a:gd name="adj" fmla="val 5062"/>
            </a:avLst>
          </a:prstGeom>
          <a:solidFill>
            <a:srgbClr val="FFFFFF"/>
          </a:solidFill>
          <a:ln w="30480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710" y="4681776"/>
            <a:ext cx="121920" cy="2890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28924" y="4939070"/>
            <a:ext cx="526542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Nuestra Propuesta de Solución</a:t>
            </a:r>
            <a:endParaRPr lang="en-US" sz="2650" dirty="0"/>
          </a:p>
        </p:txBody>
      </p:sp>
      <p:sp>
        <p:nvSpPr>
          <p:cNvPr id="11" name="Text 6"/>
          <p:cNvSpPr/>
          <p:nvPr/>
        </p:nvSpPr>
        <p:spPr>
          <a:xfrm>
            <a:off x="6628924" y="5500449"/>
            <a:ext cx="695039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Diseñamos e implementamos un sistema web centralizado para gestionar tareas, medir indicadores y evaluar el desempeño en tiempo real. Esta plataforma unifica procesos, mejora la productividad, fomenta la transparencia y apoya el crecimiento profesional del equipo logístico.</a:t>
            </a:r>
            <a:endParaRPr lang="en-US" sz="175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E02825F-7A07-E0FA-18BA-42A90177FD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791326" y="7633699"/>
            <a:ext cx="1839074" cy="5959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82585"/>
            <a:ext cx="572714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Objetivos del Proyecto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93790" y="1626632"/>
            <a:ext cx="7556421" cy="5920264"/>
          </a:xfrm>
          <a:prstGeom prst="roundRect">
            <a:avLst>
              <a:gd name="adj" fmla="val 5172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801410" y="1634252"/>
            <a:ext cx="7541181" cy="1829514"/>
          </a:xfrm>
          <a:prstGeom prst="roundRect">
            <a:avLst>
              <a:gd name="adj" fmla="val 16738"/>
            </a:avLst>
          </a:prstGeom>
          <a:solidFill>
            <a:srgbClr val="E6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05483" y="183832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Objetivo General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483" y="2279571"/>
            <a:ext cx="7133034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Desarrollar una aplicación web integral para gestionar, monitorear y evaluar el desempeño del personal logístico, centralizando la información y facilitando la toma de decisiones basada en datos.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01410" y="3463766"/>
            <a:ext cx="7541181" cy="4075509"/>
          </a:xfrm>
          <a:prstGeom prst="rect">
            <a:avLst/>
          </a:prstGeom>
          <a:solidFill>
            <a:srgbClr val="E6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01410" y="3463766"/>
            <a:ext cx="7541181" cy="22860"/>
          </a:xfrm>
          <a:prstGeom prst="roundRect">
            <a:avLst>
              <a:gd name="adj" fmla="val 1339536"/>
            </a:avLst>
          </a:prstGeom>
          <a:solidFill>
            <a:srgbClr val="B3D5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05483" y="3667839"/>
            <a:ext cx="2691170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Objetivos Específicos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05483" y="4109085"/>
            <a:ext cx="7133034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Diseñar e implementar una aplicación web completa para la gestión y evaluación del personal logístico.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05483" y="4833937"/>
            <a:ext cx="7133034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Registrar y asignar usuarios según roles (Administrador, Supervisor y Empleado).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05483" y="5558790"/>
            <a:ext cx="713303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Desarrollar dashboards interactivos con KPIs individuales y generales.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05483" y="5956935"/>
            <a:ext cx="7133034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Implementar reportes automáticos y exportables en diferentes formatos.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05483" y="6681788"/>
            <a:ext cx="7133034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Evaluar el impacto operativo, midiendo mejoras en eficiencia y trazabilidad.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0228"/>
            <a:ext cx="7852172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Alcances y Limitaciones del Proyecto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827014"/>
            <a:ext cx="2588657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El proyecto permite: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430780"/>
            <a:ext cx="85011" cy="850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8822" y="2337197"/>
            <a:ext cx="6058853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Gestionar usuarios con tres roles: Administrador, Supervisor y Empleado.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043118"/>
            <a:ext cx="85011" cy="850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48822" y="2949535"/>
            <a:ext cx="6058853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Administrar usuarios: registro, edición, eliminación y asignación de supervisores.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927634"/>
            <a:ext cx="85011" cy="8501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48822" y="3834051"/>
            <a:ext cx="6058853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Crear y asignar tareas desde el Supervisor hacia los Empleados.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539972"/>
            <a:ext cx="85011" cy="8501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48822" y="4446389"/>
            <a:ext cx="6058853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Visualizar métricas de desempeño: generales, por equipo e individuales.</a:t>
            </a:r>
            <a:endParaRPr lang="en-US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152311"/>
            <a:ext cx="85011" cy="8501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48822" y="5058728"/>
            <a:ext cx="6058853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Actualizar dashboards de forma dinámica en tiempo real.</a:t>
            </a:r>
            <a:endParaRPr lang="en-US" sz="13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764649"/>
            <a:ext cx="85011" cy="8501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048822" y="5671066"/>
            <a:ext cx="6058853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Generar reportes automáticos en PDF con métricas semanales y mensuales.</a:t>
            </a:r>
            <a:endParaRPr lang="en-US" sz="13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6376987"/>
            <a:ext cx="85011" cy="85011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048822" y="6283404"/>
            <a:ext cx="6058853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Operar sobre una arquitectura web con Django y base de datos PostgreSQL.</a:t>
            </a:r>
            <a:endParaRPr lang="en-US" sz="13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6989326"/>
            <a:ext cx="85011" cy="85011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048822" y="6895743"/>
            <a:ext cx="6058853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Ejecutar pruebas automatizadas mediante PyTest.</a:t>
            </a:r>
            <a:endParaRPr lang="en-US" sz="1300" dirty="0"/>
          </a:p>
        </p:txBody>
      </p:sp>
      <p:sp>
        <p:nvSpPr>
          <p:cNvPr id="20" name="Text 10"/>
          <p:cNvSpPr/>
          <p:nvPr/>
        </p:nvSpPr>
        <p:spPr>
          <a:xfrm>
            <a:off x="7530346" y="1827014"/>
            <a:ext cx="288190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El proyecto no incluye:</a:t>
            </a:r>
            <a:endParaRPr lang="en-US" sz="200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346" y="2430780"/>
            <a:ext cx="85011" cy="85011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7785378" y="2337197"/>
            <a:ext cx="6058853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Integración con sistemas externos (ERP, correo, biometría).</a:t>
            </a:r>
            <a:endParaRPr lang="en-US" sz="1300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346" y="3043118"/>
            <a:ext cx="85011" cy="85011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7785378" y="2949535"/>
            <a:ext cx="6058853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Comunicación interna entre usuarios (chat o mensajería).</a:t>
            </a:r>
            <a:endParaRPr lang="en-US" sz="1300" dirty="0"/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346" y="3655457"/>
            <a:ext cx="85011" cy="85011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785378" y="3561874"/>
            <a:ext cx="6058853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Aplicación móvil o diseño optimizado para dispositivos móviles.</a:t>
            </a:r>
            <a:endParaRPr lang="en-US" sz="1300" dirty="0"/>
          </a:p>
        </p:txBody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346" y="4267795"/>
            <a:ext cx="85011" cy="85011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7785378" y="4174212"/>
            <a:ext cx="6058853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Edición avanzada de reportes o exportaciones en múltiples formatos adicionales.</a:t>
            </a:r>
            <a:endParaRPr lang="en-US" sz="1300" dirty="0"/>
          </a:p>
        </p:txBody>
      </p:sp>
      <p:pic>
        <p:nvPicPr>
          <p:cNvPr id="29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346" y="5152311"/>
            <a:ext cx="85011" cy="85011"/>
          </a:xfrm>
          <a:prstGeom prst="rect">
            <a:avLst/>
          </a:prstGeom>
        </p:spPr>
      </p:pic>
      <p:sp>
        <p:nvSpPr>
          <p:cNvPr id="30" name="Text 15"/>
          <p:cNvSpPr/>
          <p:nvPr/>
        </p:nvSpPr>
        <p:spPr>
          <a:xfrm>
            <a:off x="7785378" y="5058728"/>
            <a:ext cx="6058853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Funcionalidades logísticas fuera del alcance (inventarios, transporte, flota, etc.).</a:t>
            </a:r>
            <a:endParaRPr lang="en-US" sz="1300" dirty="0"/>
          </a:p>
        </p:txBody>
      </p:sp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346" y="6036826"/>
            <a:ext cx="85011" cy="85011"/>
          </a:xfrm>
          <a:prstGeom prst="rect">
            <a:avLst/>
          </a:prstGeom>
        </p:spPr>
      </p:pic>
      <p:sp>
        <p:nvSpPr>
          <p:cNvPr id="32" name="Text 16"/>
          <p:cNvSpPr/>
          <p:nvPr/>
        </p:nvSpPr>
        <p:spPr>
          <a:xfrm>
            <a:off x="7785378" y="5943243"/>
            <a:ext cx="6058853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Automatización de métricas que dependan de sensores o sistemas externos; se basa en registros ingresados por los usuarios.</a:t>
            </a:r>
            <a:endParaRPr lang="en-US" sz="1300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F6CE3EE-DC87-F3F4-2157-82AE584F3C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791326" y="7633699"/>
            <a:ext cx="1839074" cy="5959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object 9">
            <a:extLst>
              <a:ext uri="{FF2B5EF4-FFF2-40B4-BE49-F238E27FC236}">
                <a16:creationId xmlns:a16="http://schemas.microsoft.com/office/drawing/2014/main" id="{251F3A28-829C-9CE9-2F75-DBF5850ECF0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8906" y="6212288"/>
            <a:ext cx="7606189" cy="1401246"/>
          </a:xfrm>
          <a:prstGeom prst="rect">
            <a:avLst/>
          </a:prstGeom>
        </p:spPr>
      </p:pic>
      <p:pic>
        <p:nvPicPr>
          <p:cNvPr id="28" name="object 9">
            <a:extLst>
              <a:ext uri="{FF2B5EF4-FFF2-40B4-BE49-F238E27FC236}">
                <a16:creationId xmlns:a16="http://schemas.microsoft.com/office/drawing/2014/main" id="{57C1EBF9-C88B-9B95-EDF9-5FFEC7901A1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8906" y="4660266"/>
            <a:ext cx="7606189" cy="1401246"/>
          </a:xfrm>
          <a:prstGeom prst="rect">
            <a:avLst/>
          </a:prstGeom>
        </p:spPr>
      </p:pic>
      <p:pic>
        <p:nvPicPr>
          <p:cNvPr id="27" name="object 9">
            <a:extLst>
              <a:ext uri="{FF2B5EF4-FFF2-40B4-BE49-F238E27FC236}">
                <a16:creationId xmlns:a16="http://schemas.microsoft.com/office/drawing/2014/main" id="{88789632-BC86-C8F6-AC72-71C18F892A7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8906" y="3108244"/>
            <a:ext cx="7606189" cy="1401246"/>
          </a:xfrm>
          <a:prstGeom prst="rect">
            <a:avLst/>
          </a:prstGeom>
        </p:spPr>
      </p:pic>
      <p:pic>
        <p:nvPicPr>
          <p:cNvPr id="25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8905" y="1564243"/>
            <a:ext cx="7606189" cy="1401246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32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8906" y="604123"/>
            <a:ext cx="4646771" cy="35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Metodología de Trabajo: </a:t>
            </a:r>
            <a:r>
              <a:rPr lang="en-US" sz="2200" b="1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Kanban</a:t>
            </a:r>
            <a:endParaRPr lang="en-US" sz="2200" b="1" dirty="0"/>
          </a:p>
        </p:txBody>
      </p:sp>
      <p:sp>
        <p:nvSpPr>
          <p:cNvPr id="4" name="Text 1"/>
          <p:cNvSpPr/>
          <p:nvPr/>
        </p:nvSpPr>
        <p:spPr>
          <a:xfrm>
            <a:off x="768906" y="1175266"/>
            <a:ext cx="7606189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Elegimos Kanban por su flexibilidad y la necesidad de entregas continuas en el desarrollo de nuestro sistema.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282" y="1714619"/>
            <a:ext cx="428387" cy="428387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7034" y="1832372"/>
            <a:ext cx="192762" cy="1927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9282" y="2285762"/>
            <a:ext cx="1785104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Visualización Clara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919282" y="2594372"/>
            <a:ext cx="7305437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Tableros intuitivos para identificar tareas pendientes, en progreso y completadas.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282" y="3266242"/>
            <a:ext cx="428387" cy="428387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7034" y="3383994"/>
            <a:ext cx="192762" cy="19276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9282" y="3837384"/>
            <a:ext cx="1785104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Flujo Continuo</a:t>
            </a:r>
            <a:endParaRPr lang="en-US" sz="1400" dirty="0"/>
          </a:p>
        </p:txBody>
      </p:sp>
      <p:sp>
        <p:nvSpPr>
          <p:cNvPr id="14" name="Text 7"/>
          <p:cNvSpPr/>
          <p:nvPr/>
        </p:nvSpPr>
        <p:spPr>
          <a:xfrm>
            <a:off x="919282" y="4145994"/>
            <a:ext cx="7305437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Avance en ciclos cortos, reduciendo dependencias y optimizando el trabajo individual.</a:t>
            </a:r>
            <a:endParaRPr lang="en-US" sz="11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9282" y="4817864"/>
            <a:ext cx="428387" cy="428387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37034" y="4935617"/>
            <a:ext cx="192762" cy="192762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919282" y="5389007"/>
            <a:ext cx="1785104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Adaptabilidad</a:t>
            </a:r>
            <a:endParaRPr lang="en-US" sz="1400" dirty="0"/>
          </a:p>
        </p:txBody>
      </p:sp>
      <p:sp>
        <p:nvSpPr>
          <p:cNvPr id="19" name="Text 10"/>
          <p:cNvSpPr/>
          <p:nvPr/>
        </p:nvSpPr>
        <p:spPr>
          <a:xfrm>
            <a:off x="919282" y="5697617"/>
            <a:ext cx="7305437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Capacidad para reordenar prioridades y gestionar rápidamente issues emergentes.</a:t>
            </a:r>
            <a:endParaRPr lang="en-US" sz="11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9282" y="6369487"/>
            <a:ext cx="428387" cy="428387"/>
          </a:xfrm>
          <a:prstGeom prst="rect">
            <a:avLst/>
          </a:prstGeom>
        </p:spPr>
      </p:pic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37034" y="6487239"/>
            <a:ext cx="192762" cy="192762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919282" y="6940629"/>
            <a:ext cx="1785104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Eficiencia</a:t>
            </a:r>
            <a:endParaRPr lang="en-US" sz="1400" dirty="0"/>
          </a:p>
        </p:txBody>
      </p:sp>
      <p:sp>
        <p:nvSpPr>
          <p:cNvPr id="24" name="Text 13"/>
          <p:cNvSpPr/>
          <p:nvPr/>
        </p:nvSpPr>
        <p:spPr>
          <a:xfrm>
            <a:off x="919282" y="7249239"/>
            <a:ext cx="7305437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Enfoque en la entrega progresiva y funcional de módulos, optimizando recursos.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7839"/>
            <a:ext cx="3274100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Tecnologías Utilizadas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793790" y="1471255"/>
            <a:ext cx="130428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 vistazo a las herramientas, lenguajes y plataformas que impulsaron LogísticaHR.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1872853"/>
            <a:ext cx="368498" cy="3684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2425541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Django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93790" y="2744272"/>
            <a:ext cx="642925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Framework robusto para el desarrollo backend, garantizando escalabilidad y seguridad.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07235" y="1872853"/>
            <a:ext cx="368498" cy="3684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07235" y="2425541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Python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7407235" y="2744272"/>
            <a:ext cx="642937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Lenguaje principal, elegido por su versatilidad, legibilidad y amplia comunidad.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3274814"/>
            <a:ext cx="368498" cy="36849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3827502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PostgreSQL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793790" y="4146232"/>
            <a:ext cx="642925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Base de datos relacional de alto rendimiento, ideal para la gestión de datos complejos.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07235" y="3274814"/>
            <a:ext cx="368498" cy="36849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07235" y="3827502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PyTest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7407235" y="4146232"/>
            <a:ext cx="642937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Herramienta esencial para garantizar la calidad del código mediante pruebas automatizadas.</a:t>
            </a:r>
            <a:endParaRPr lang="en-US" sz="11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3790" y="4676775"/>
            <a:ext cx="368498" cy="36849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93790" y="5229463"/>
            <a:ext cx="2130266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HTML, CSS y JavaScript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793790" y="5548193"/>
            <a:ext cx="642925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Pilares del desarrollo frontend para una interfaz de usuario interactiva y dinámica.</a:t>
            </a:r>
            <a:endParaRPr lang="en-US" sz="11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07235" y="4676775"/>
            <a:ext cx="368498" cy="36849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407235" y="522946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Bootstrap</a:t>
            </a:r>
            <a:endParaRPr lang="en-US" sz="1450" dirty="0"/>
          </a:p>
        </p:txBody>
      </p:sp>
      <p:sp>
        <p:nvSpPr>
          <p:cNvPr id="21" name="Text 13"/>
          <p:cNvSpPr/>
          <p:nvPr/>
        </p:nvSpPr>
        <p:spPr>
          <a:xfrm>
            <a:off x="7407235" y="5548193"/>
            <a:ext cx="642937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Framework CSS para un diseño responsivo y coherente en toda la aplicación.</a:t>
            </a:r>
            <a:endParaRPr lang="en-US" sz="11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93790" y="6078736"/>
            <a:ext cx="368498" cy="36849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93790" y="663142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Lucidchart</a:t>
            </a:r>
            <a:endParaRPr lang="en-US" sz="1450" dirty="0"/>
          </a:p>
        </p:txBody>
      </p:sp>
      <p:sp>
        <p:nvSpPr>
          <p:cNvPr id="24" name="Text 15"/>
          <p:cNvSpPr/>
          <p:nvPr/>
        </p:nvSpPr>
        <p:spPr>
          <a:xfrm>
            <a:off x="793790" y="6950154"/>
            <a:ext cx="642925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Herramienta para la creación de diagramas UML, facilitando la planificación y visualización del sistema.</a:t>
            </a:r>
            <a:endParaRPr lang="en-US" sz="115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407235" y="6078736"/>
            <a:ext cx="368498" cy="36849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7407235" y="6631424"/>
            <a:ext cx="1861304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Office / Google Docs</a:t>
            </a:r>
            <a:endParaRPr lang="en-US" sz="1450" dirty="0"/>
          </a:p>
        </p:txBody>
      </p:sp>
      <p:sp>
        <p:nvSpPr>
          <p:cNvPr id="27" name="Text 17"/>
          <p:cNvSpPr/>
          <p:nvPr/>
        </p:nvSpPr>
        <p:spPr>
          <a:xfrm>
            <a:off x="7407235" y="6950154"/>
            <a:ext cx="642937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Para la documentación colaborativa y gestión de contenidos del proyecto.</a:t>
            </a:r>
            <a:endParaRPr lang="en-US" sz="115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8F921402-DE98-56B2-819E-607D524EF6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791326" y="7633699"/>
            <a:ext cx="1839074" cy="5959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93790" y="2272308"/>
            <a:ext cx="4234220" cy="1530310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67" name="object 3">
            <a:extLst>
              <a:ext uri="{FF2B5EF4-FFF2-40B4-BE49-F238E27FC236}">
                <a16:creationId xmlns:a16="http://schemas.microsoft.com/office/drawing/2014/main" id="{E84CFBAB-9921-C13B-95AA-F7F946F954EF}"/>
              </a:ext>
            </a:extLst>
          </p:cNvPr>
          <p:cNvGrpSpPr/>
          <p:nvPr/>
        </p:nvGrpSpPr>
        <p:grpSpPr>
          <a:xfrm>
            <a:off x="793789" y="2012896"/>
            <a:ext cx="4034122" cy="1671583"/>
            <a:chOff x="619124" y="1581150"/>
            <a:chExt cx="3305175" cy="1390650"/>
          </a:xfrm>
        </p:grpSpPr>
        <p:sp>
          <p:nvSpPr>
            <p:cNvPr id="68" name="object 4">
              <a:extLst>
                <a:ext uri="{FF2B5EF4-FFF2-40B4-BE49-F238E27FC236}">
                  <a16:creationId xmlns:a16="http://schemas.microsoft.com/office/drawing/2014/main" id="{2AB80B9E-B650-B17B-3057-DFD9EFAC6201}"/>
                </a:ext>
              </a:extLst>
            </p:cNvPr>
            <p:cNvSpPr/>
            <p:nvPr/>
          </p:nvSpPr>
          <p:spPr>
            <a:xfrm>
              <a:off x="619112" y="1782025"/>
              <a:ext cx="3305175" cy="1189990"/>
            </a:xfrm>
            <a:custGeom>
              <a:avLst/>
              <a:gdLst/>
              <a:ahLst/>
              <a:cxnLst/>
              <a:rect l="l" t="t" r="r" b="b"/>
              <a:pathLst>
                <a:path w="3305175" h="1189989">
                  <a:moveTo>
                    <a:pt x="3305175" y="75361"/>
                  </a:moveTo>
                  <a:lnTo>
                    <a:pt x="3292348" y="33020"/>
                  </a:lnTo>
                  <a:lnTo>
                    <a:pt x="3258134" y="4965"/>
                  </a:lnTo>
                  <a:lnTo>
                    <a:pt x="3239744" y="0"/>
                  </a:lnTo>
                  <a:lnTo>
                    <a:pt x="3243846" y="1092"/>
                  </a:lnTo>
                  <a:lnTo>
                    <a:pt x="3257842" y="8826"/>
                  </a:lnTo>
                  <a:lnTo>
                    <a:pt x="3281769" y="46202"/>
                  </a:lnTo>
                  <a:lnTo>
                    <a:pt x="3286125" y="75361"/>
                  </a:lnTo>
                  <a:lnTo>
                    <a:pt x="3286125" y="1023645"/>
                  </a:lnTo>
                  <a:lnTo>
                    <a:pt x="3279825" y="1066279"/>
                  </a:lnTo>
                  <a:lnTo>
                    <a:pt x="3261360" y="1105382"/>
                  </a:lnTo>
                  <a:lnTo>
                    <a:pt x="3242551" y="1128102"/>
                  </a:lnTo>
                  <a:lnTo>
                    <a:pt x="3208451" y="1153337"/>
                  </a:lnTo>
                  <a:lnTo>
                    <a:pt x="3167748" y="1167930"/>
                  </a:lnTo>
                  <a:lnTo>
                    <a:pt x="3152813" y="1170139"/>
                  </a:lnTo>
                  <a:lnTo>
                    <a:pt x="3151327" y="1170139"/>
                  </a:lnTo>
                  <a:lnTo>
                    <a:pt x="3139046" y="1170736"/>
                  </a:lnTo>
                  <a:lnTo>
                    <a:pt x="166141" y="1170736"/>
                  </a:lnTo>
                  <a:lnTo>
                    <a:pt x="153860" y="1170139"/>
                  </a:lnTo>
                  <a:lnTo>
                    <a:pt x="152374" y="1170139"/>
                  </a:lnTo>
                  <a:lnTo>
                    <a:pt x="109855" y="1159535"/>
                  </a:lnTo>
                  <a:lnTo>
                    <a:pt x="72872" y="1137399"/>
                  </a:lnTo>
                  <a:lnTo>
                    <a:pt x="62623" y="1128115"/>
                  </a:lnTo>
                  <a:lnTo>
                    <a:pt x="62141" y="1127658"/>
                  </a:lnTo>
                  <a:lnTo>
                    <a:pt x="36449" y="1093050"/>
                  </a:lnTo>
                  <a:lnTo>
                    <a:pt x="21856" y="1052347"/>
                  </a:lnTo>
                  <a:lnTo>
                    <a:pt x="19050" y="1023645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41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023645"/>
                  </a:lnTo>
                  <a:lnTo>
                    <a:pt x="7124" y="1071803"/>
                  </a:lnTo>
                  <a:lnTo>
                    <a:pt x="27978" y="1115961"/>
                  </a:lnTo>
                  <a:lnTo>
                    <a:pt x="60794" y="1152131"/>
                  </a:lnTo>
                  <a:lnTo>
                    <a:pt x="102565" y="1177137"/>
                  </a:lnTo>
                  <a:lnTo>
                    <a:pt x="149771" y="1188986"/>
                  </a:lnTo>
                  <a:lnTo>
                    <a:pt x="166141" y="1189786"/>
                  </a:lnTo>
                  <a:lnTo>
                    <a:pt x="3139046" y="1189786"/>
                  </a:lnTo>
                  <a:lnTo>
                    <a:pt x="3187204" y="1182662"/>
                  </a:lnTo>
                  <a:lnTo>
                    <a:pt x="3231362" y="1161808"/>
                  </a:lnTo>
                  <a:lnTo>
                    <a:pt x="3256013" y="1141564"/>
                  </a:lnTo>
                  <a:lnTo>
                    <a:pt x="3256508" y="1141120"/>
                  </a:lnTo>
                  <a:lnTo>
                    <a:pt x="3285540" y="1102042"/>
                  </a:lnTo>
                  <a:lnTo>
                    <a:pt x="3302012" y="1056068"/>
                  </a:lnTo>
                  <a:lnTo>
                    <a:pt x="3305175" y="1023645"/>
                  </a:lnTo>
                  <a:lnTo>
                    <a:pt x="3305175" y="75361"/>
                  </a:lnTo>
                  <a:close/>
                </a:path>
              </a:pathLst>
            </a:custGeom>
            <a:solidFill>
              <a:srgbClr val="B2D5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5">
              <a:extLst>
                <a:ext uri="{FF2B5EF4-FFF2-40B4-BE49-F238E27FC236}">
                  <a16:creationId xmlns:a16="http://schemas.microsoft.com/office/drawing/2014/main" id="{C671C112-0BED-2956-F4B2-5655E0852B3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9124" y="1581150"/>
              <a:ext cx="3305174" cy="400049"/>
            </a:xfrm>
            <a:prstGeom prst="rect">
              <a:avLst/>
            </a:prstGeom>
          </p:spPr>
        </p:pic>
      </p:grpSp>
      <p:sp>
        <p:nvSpPr>
          <p:cNvPr id="10" name="Shape 6"/>
          <p:cNvSpPr/>
          <p:nvPr/>
        </p:nvSpPr>
        <p:spPr>
          <a:xfrm>
            <a:off x="5198031" y="2272308"/>
            <a:ext cx="4234220" cy="1530310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70" name="object 7">
            <a:extLst>
              <a:ext uri="{FF2B5EF4-FFF2-40B4-BE49-F238E27FC236}">
                <a16:creationId xmlns:a16="http://schemas.microsoft.com/office/drawing/2014/main" id="{C705FF2F-DC80-2889-0568-E0193769D8AF}"/>
              </a:ext>
            </a:extLst>
          </p:cNvPr>
          <p:cNvGrpSpPr/>
          <p:nvPr/>
        </p:nvGrpSpPr>
        <p:grpSpPr>
          <a:xfrm>
            <a:off x="5198031" y="2042584"/>
            <a:ext cx="4045748" cy="1671583"/>
            <a:chOff x="4057649" y="1581150"/>
            <a:chExt cx="3314700" cy="1390650"/>
          </a:xfrm>
        </p:grpSpPr>
        <p:sp>
          <p:nvSpPr>
            <p:cNvPr id="71" name="object 8">
              <a:extLst>
                <a:ext uri="{FF2B5EF4-FFF2-40B4-BE49-F238E27FC236}">
                  <a16:creationId xmlns:a16="http://schemas.microsoft.com/office/drawing/2014/main" id="{2C335E8E-9594-68D7-5037-C1E35ABBC26F}"/>
                </a:ext>
              </a:extLst>
            </p:cNvPr>
            <p:cNvSpPr/>
            <p:nvPr/>
          </p:nvSpPr>
          <p:spPr>
            <a:xfrm>
              <a:off x="4057637" y="1782025"/>
              <a:ext cx="3314700" cy="1189990"/>
            </a:xfrm>
            <a:custGeom>
              <a:avLst/>
              <a:gdLst/>
              <a:ahLst/>
              <a:cxnLst/>
              <a:rect l="l" t="t" r="r" b="b"/>
              <a:pathLst>
                <a:path w="3314700" h="1189989">
                  <a:moveTo>
                    <a:pt x="3314700" y="75361"/>
                  </a:moveTo>
                  <a:lnTo>
                    <a:pt x="3301873" y="33020"/>
                  </a:lnTo>
                  <a:lnTo>
                    <a:pt x="3267659" y="4965"/>
                  </a:lnTo>
                  <a:lnTo>
                    <a:pt x="3249269" y="0"/>
                  </a:lnTo>
                  <a:lnTo>
                    <a:pt x="3253371" y="1092"/>
                  </a:lnTo>
                  <a:lnTo>
                    <a:pt x="3267367" y="8826"/>
                  </a:lnTo>
                  <a:lnTo>
                    <a:pt x="3291294" y="46202"/>
                  </a:lnTo>
                  <a:lnTo>
                    <a:pt x="3295650" y="75361"/>
                  </a:lnTo>
                  <a:lnTo>
                    <a:pt x="3295650" y="1023645"/>
                  </a:lnTo>
                  <a:lnTo>
                    <a:pt x="3289350" y="1066279"/>
                  </a:lnTo>
                  <a:lnTo>
                    <a:pt x="3270885" y="1105382"/>
                  </a:lnTo>
                  <a:lnTo>
                    <a:pt x="3252076" y="1128102"/>
                  </a:lnTo>
                  <a:lnTo>
                    <a:pt x="3217976" y="1153337"/>
                  </a:lnTo>
                  <a:lnTo>
                    <a:pt x="3177273" y="1167930"/>
                  </a:lnTo>
                  <a:lnTo>
                    <a:pt x="3162338" y="1170139"/>
                  </a:lnTo>
                  <a:lnTo>
                    <a:pt x="3160852" y="1170139"/>
                  </a:lnTo>
                  <a:lnTo>
                    <a:pt x="3148571" y="1170736"/>
                  </a:lnTo>
                  <a:lnTo>
                    <a:pt x="166128" y="1170736"/>
                  </a:lnTo>
                  <a:lnTo>
                    <a:pt x="153860" y="1170139"/>
                  </a:lnTo>
                  <a:lnTo>
                    <a:pt x="152374" y="1170139"/>
                  </a:lnTo>
                  <a:lnTo>
                    <a:pt x="109842" y="1159535"/>
                  </a:lnTo>
                  <a:lnTo>
                    <a:pt x="72872" y="1137399"/>
                  </a:lnTo>
                  <a:lnTo>
                    <a:pt x="62623" y="1128115"/>
                  </a:lnTo>
                  <a:lnTo>
                    <a:pt x="62128" y="1127658"/>
                  </a:lnTo>
                  <a:lnTo>
                    <a:pt x="36449" y="1093050"/>
                  </a:lnTo>
                  <a:lnTo>
                    <a:pt x="21856" y="1052347"/>
                  </a:lnTo>
                  <a:lnTo>
                    <a:pt x="19050" y="1023645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023645"/>
                  </a:lnTo>
                  <a:lnTo>
                    <a:pt x="7124" y="1071803"/>
                  </a:lnTo>
                  <a:lnTo>
                    <a:pt x="27978" y="1115961"/>
                  </a:lnTo>
                  <a:lnTo>
                    <a:pt x="49161" y="1141577"/>
                  </a:lnTo>
                  <a:lnTo>
                    <a:pt x="60794" y="1152131"/>
                  </a:lnTo>
                  <a:lnTo>
                    <a:pt x="102552" y="1177137"/>
                  </a:lnTo>
                  <a:lnTo>
                    <a:pt x="149771" y="1188986"/>
                  </a:lnTo>
                  <a:lnTo>
                    <a:pt x="166128" y="1189786"/>
                  </a:lnTo>
                  <a:lnTo>
                    <a:pt x="3148571" y="1189786"/>
                  </a:lnTo>
                  <a:lnTo>
                    <a:pt x="3196729" y="1182662"/>
                  </a:lnTo>
                  <a:lnTo>
                    <a:pt x="3240887" y="1161808"/>
                  </a:lnTo>
                  <a:lnTo>
                    <a:pt x="3265538" y="1141564"/>
                  </a:lnTo>
                  <a:lnTo>
                    <a:pt x="3266033" y="1141120"/>
                  </a:lnTo>
                  <a:lnTo>
                    <a:pt x="3295065" y="1102042"/>
                  </a:lnTo>
                  <a:lnTo>
                    <a:pt x="3311537" y="1056068"/>
                  </a:lnTo>
                  <a:lnTo>
                    <a:pt x="3314700" y="1023645"/>
                  </a:lnTo>
                  <a:lnTo>
                    <a:pt x="3314700" y="75361"/>
                  </a:lnTo>
                  <a:close/>
                </a:path>
              </a:pathLst>
            </a:custGeom>
            <a:solidFill>
              <a:srgbClr val="B2D5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9">
              <a:extLst>
                <a:ext uri="{FF2B5EF4-FFF2-40B4-BE49-F238E27FC236}">
                  <a16:creationId xmlns:a16="http://schemas.microsoft.com/office/drawing/2014/main" id="{6F7926F9-6B4A-AAED-6CAA-18344D4E519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57649" y="1581150"/>
              <a:ext cx="3314699" cy="400049"/>
            </a:xfrm>
            <a:prstGeom prst="rect">
              <a:avLst/>
            </a:prstGeom>
          </p:spPr>
        </p:pic>
      </p:grpSp>
      <p:sp>
        <p:nvSpPr>
          <p:cNvPr id="16" name="Shape 10"/>
          <p:cNvSpPr/>
          <p:nvPr/>
        </p:nvSpPr>
        <p:spPr>
          <a:xfrm>
            <a:off x="9602272" y="2272308"/>
            <a:ext cx="4234220" cy="1530310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83" name="object 3">
            <a:extLst>
              <a:ext uri="{FF2B5EF4-FFF2-40B4-BE49-F238E27FC236}">
                <a16:creationId xmlns:a16="http://schemas.microsoft.com/office/drawing/2014/main" id="{9D459B59-93A1-BB48-A893-DB54F7BADDF3}"/>
              </a:ext>
            </a:extLst>
          </p:cNvPr>
          <p:cNvGrpSpPr/>
          <p:nvPr/>
        </p:nvGrpSpPr>
        <p:grpSpPr>
          <a:xfrm>
            <a:off x="9591821" y="2021271"/>
            <a:ext cx="4034122" cy="1671583"/>
            <a:chOff x="619124" y="1581150"/>
            <a:chExt cx="3305175" cy="1390650"/>
          </a:xfrm>
        </p:grpSpPr>
        <p:sp>
          <p:nvSpPr>
            <p:cNvPr id="84" name="object 4">
              <a:extLst>
                <a:ext uri="{FF2B5EF4-FFF2-40B4-BE49-F238E27FC236}">
                  <a16:creationId xmlns:a16="http://schemas.microsoft.com/office/drawing/2014/main" id="{FB99E57D-D1E1-0B70-B24B-6203EFAFEBC0}"/>
                </a:ext>
              </a:extLst>
            </p:cNvPr>
            <p:cNvSpPr/>
            <p:nvPr/>
          </p:nvSpPr>
          <p:spPr>
            <a:xfrm>
              <a:off x="619112" y="1782025"/>
              <a:ext cx="3305175" cy="1189990"/>
            </a:xfrm>
            <a:custGeom>
              <a:avLst/>
              <a:gdLst/>
              <a:ahLst/>
              <a:cxnLst/>
              <a:rect l="l" t="t" r="r" b="b"/>
              <a:pathLst>
                <a:path w="3305175" h="1189989">
                  <a:moveTo>
                    <a:pt x="3305175" y="75361"/>
                  </a:moveTo>
                  <a:lnTo>
                    <a:pt x="3292348" y="33020"/>
                  </a:lnTo>
                  <a:lnTo>
                    <a:pt x="3258134" y="4965"/>
                  </a:lnTo>
                  <a:lnTo>
                    <a:pt x="3239744" y="0"/>
                  </a:lnTo>
                  <a:lnTo>
                    <a:pt x="3243846" y="1092"/>
                  </a:lnTo>
                  <a:lnTo>
                    <a:pt x="3257842" y="8826"/>
                  </a:lnTo>
                  <a:lnTo>
                    <a:pt x="3281769" y="46202"/>
                  </a:lnTo>
                  <a:lnTo>
                    <a:pt x="3286125" y="75361"/>
                  </a:lnTo>
                  <a:lnTo>
                    <a:pt x="3286125" y="1023645"/>
                  </a:lnTo>
                  <a:lnTo>
                    <a:pt x="3279825" y="1066279"/>
                  </a:lnTo>
                  <a:lnTo>
                    <a:pt x="3261360" y="1105382"/>
                  </a:lnTo>
                  <a:lnTo>
                    <a:pt x="3242551" y="1128102"/>
                  </a:lnTo>
                  <a:lnTo>
                    <a:pt x="3208451" y="1153337"/>
                  </a:lnTo>
                  <a:lnTo>
                    <a:pt x="3167748" y="1167930"/>
                  </a:lnTo>
                  <a:lnTo>
                    <a:pt x="3152813" y="1170139"/>
                  </a:lnTo>
                  <a:lnTo>
                    <a:pt x="3151327" y="1170139"/>
                  </a:lnTo>
                  <a:lnTo>
                    <a:pt x="3139046" y="1170736"/>
                  </a:lnTo>
                  <a:lnTo>
                    <a:pt x="166141" y="1170736"/>
                  </a:lnTo>
                  <a:lnTo>
                    <a:pt x="153860" y="1170139"/>
                  </a:lnTo>
                  <a:lnTo>
                    <a:pt x="152374" y="1170139"/>
                  </a:lnTo>
                  <a:lnTo>
                    <a:pt x="109855" y="1159535"/>
                  </a:lnTo>
                  <a:lnTo>
                    <a:pt x="72872" y="1137399"/>
                  </a:lnTo>
                  <a:lnTo>
                    <a:pt x="62623" y="1128115"/>
                  </a:lnTo>
                  <a:lnTo>
                    <a:pt x="62141" y="1127658"/>
                  </a:lnTo>
                  <a:lnTo>
                    <a:pt x="36449" y="1093050"/>
                  </a:lnTo>
                  <a:lnTo>
                    <a:pt x="21856" y="1052347"/>
                  </a:lnTo>
                  <a:lnTo>
                    <a:pt x="19050" y="1023645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41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023645"/>
                  </a:lnTo>
                  <a:lnTo>
                    <a:pt x="7124" y="1071803"/>
                  </a:lnTo>
                  <a:lnTo>
                    <a:pt x="27978" y="1115961"/>
                  </a:lnTo>
                  <a:lnTo>
                    <a:pt x="60794" y="1152131"/>
                  </a:lnTo>
                  <a:lnTo>
                    <a:pt x="102565" y="1177137"/>
                  </a:lnTo>
                  <a:lnTo>
                    <a:pt x="149771" y="1188986"/>
                  </a:lnTo>
                  <a:lnTo>
                    <a:pt x="166141" y="1189786"/>
                  </a:lnTo>
                  <a:lnTo>
                    <a:pt x="3139046" y="1189786"/>
                  </a:lnTo>
                  <a:lnTo>
                    <a:pt x="3187204" y="1182662"/>
                  </a:lnTo>
                  <a:lnTo>
                    <a:pt x="3231362" y="1161808"/>
                  </a:lnTo>
                  <a:lnTo>
                    <a:pt x="3256013" y="1141564"/>
                  </a:lnTo>
                  <a:lnTo>
                    <a:pt x="3256508" y="1141120"/>
                  </a:lnTo>
                  <a:lnTo>
                    <a:pt x="3285540" y="1102042"/>
                  </a:lnTo>
                  <a:lnTo>
                    <a:pt x="3302012" y="1056068"/>
                  </a:lnTo>
                  <a:lnTo>
                    <a:pt x="3305175" y="1023645"/>
                  </a:lnTo>
                  <a:lnTo>
                    <a:pt x="3305175" y="75361"/>
                  </a:lnTo>
                  <a:close/>
                </a:path>
              </a:pathLst>
            </a:custGeom>
            <a:solidFill>
              <a:srgbClr val="B2D5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5">
              <a:extLst>
                <a:ext uri="{FF2B5EF4-FFF2-40B4-BE49-F238E27FC236}">
                  <a16:creationId xmlns:a16="http://schemas.microsoft.com/office/drawing/2014/main" id="{96027EF9-6BB0-4A9A-AB1E-F9184A831DD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9124" y="1581150"/>
              <a:ext cx="3305174" cy="400049"/>
            </a:xfrm>
            <a:prstGeom prst="rect">
              <a:avLst/>
            </a:prstGeom>
          </p:spPr>
        </p:pic>
      </p:grpSp>
      <p:sp>
        <p:nvSpPr>
          <p:cNvPr id="22" name="Shape 14"/>
          <p:cNvSpPr/>
          <p:nvPr/>
        </p:nvSpPr>
        <p:spPr>
          <a:xfrm>
            <a:off x="793790" y="4227790"/>
            <a:ext cx="4234220" cy="1530310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77" name="object 3">
            <a:extLst>
              <a:ext uri="{FF2B5EF4-FFF2-40B4-BE49-F238E27FC236}">
                <a16:creationId xmlns:a16="http://schemas.microsoft.com/office/drawing/2014/main" id="{8597FC03-68C3-8E0B-F9C8-B2FE7953B088}"/>
              </a:ext>
            </a:extLst>
          </p:cNvPr>
          <p:cNvGrpSpPr/>
          <p:nvPr/>
        </p:nvGrpSpPr>
        <p:grpSpPr>
          <a:xfrm>
            <a:off x="801006" y="4057769"/>
            <a:ext cx="4034122" cy="1671583"/>
            <a:chOff x="619124" y="1581150"/>
            <a:chExt cx="3305175" cy="1390650"/>
          </a:xfrm>
        </p:grpSpPr>
        <p:sp>
          <p:nvSpPr>
            <p:cNvPr id="78" name="object 4">
              <a:extLst>
                <a:ext uri="{FF2B5EF4-FFF2-40B4-BE49-F238E27FC236}">
                  <a16:creationId xmlns:a16="http://schemas.microsoft.com/office/drawing/2014/main" id="{1DA323E9-E3E7-F176-EA48-FD974AFEEE75}"/>
                </a:ext>
              </a:extLst>
            </p:cNvPr>
            <p:cNvSpPr/>
            <p:nvPr/>
          </p:nvSpPr>
          <p:spPr>
            <a:xfrm>
              <a:off x="619112" y="1782025"/>
              <a:ext cx="3305175" cy="1189990"/>
            </a:xfrm>
            <a:custGeom>
              <a:avLst/>
              <a:gdLst/>
              <a:ahLst/>
              <a:cxnLst/>
              <a:rect l="l" t="t" r="r" b="b"/>
              <a:pathLst>
                <a:path w="3305175" h="1189989">
                  <a:moveTo>
                    <a:pt x="3305175" y="75361"/>
                  </a:moveTo>
                  <a:lnTo>
                    <a:pt x="3292348" y="33020"/>
                  </a:lnTo>
                  <a:lnTo>
                    <a:pt x="3258134" y="4965"/>
                  </a:lnTo>
                  <a:lnTo>
                    <a:pt x="3239744" y="0"/>
                  </a:lnTo>
                  <a:lnTo>
                    <a:pt x="3243846" y="1092"/>
                  </a:lnTo>
                  <a:lnTo>
                    <a:pt x="3257842" y="8826"/>
                  </a:lnTo>
                  <a:lnTo>
                    <a:pt x="3281769" y="46202"/>
                  </a:lnTo>
                  <a:lnTo>
                    <a:pt x="3286125" y="75361"/>
                  </a:lnTo>
                  <a:lnTo>
                    <a:pt x="3286125" y="1023645"/>
                  </a:lnTo>
                  <a:lnTo>
                    <a:pt x="3279825" y="1066279"/>
                  </a:lnTo>
                  <a:lnTo>
                    <a:pt x="3261360" y="1105382"/>
                  </a:lnTo>
                  <a:lnTo>
                    <a:pt x="3242551" y="1128102"/>
                  </a:lnTo>
                  <a:lnTo>
                    <a:pt x="3208451" y="1153337"/>
                  </a:lnTo>
                  <a:lnTo>
                    <a:pt x="3167748" y="1167930"/>
                  </a:lnTo>
                  <a:lnTo>
                    <a:pt x="3152813" y="1170139"/>
                  </a:lnTo>
                  <a:lnTo>
                    <a:pt x="3151327" y="1170139"/>
                  </a:lnTo>
                  <a:lnTo>
                    <a:pt x="3139046" y="1170736"/>
                  </a:lnTo>
                  <a:lnTo>
                    <a:pt x="166141" y="1170736"/>
                  </a:lnTo>
                  <a:lnTo>
                    <a:pt x="153860" y="1170139"/>
                  </a:lnTo>
                  <a:lnTo>
                    <a:pt x="152374" y="1170139"/>
                  </a:lnTo>
                  <a:lnTo>
                    <a:pt x="109855" y="1159535"/>
                  </a:lnTo>
                  <a:lnTo>
                    <a:pt x="72872" y="1137399"/>
                  </a:lnTo>
                  <a:lnTo>
                    <a:pt x="62623" y="1128115"/>
                  </a:lnTo>
                  <a:lnTo>
                    <a:pt x="62141" y="1127658"/>
                  </a:lnTo>
                  <a:lnTo>
                    <a:pt x="36449" y="1093050"/>
                  </a:lnTo>
                  <a:lnTo>
                    <a:pt x="21856" y="1052347"/>
                  </a:lnTo>
                  <a:lnTo>
                    <a:pt x="19050" y="1023645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41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023645"/>
                  </a:lnTo>
                  <a:lnTo>
                    <a:pt x="7124" y="1071803"/>
                  </a:lnTo>
                  <a:lnTo>
                    <a:pt x="27978" y="1115961"/>
                  </a:lnTo>
                  <a:lnTo>
                    <a:pt x="60794" y="1152131"/>
                  </a:lnTo>
                  <a:lnTo>
                    <a:pt x="102565" y="1177137"/>
                  </a:lnTo>
                  <a:lnTo>
                    <a:pt x="149771" y="1188986"/>
                  </a:lnTo>
                  <a:lnTo>
                    <a:pt x="166141" y="1189786"/>
                  </a:lnTo>
                  <a:lnTo>
                    <a:pt x="3139046" y="1189786"/>
                  </a:lnTo>
                  <a:lnTo>
                    <a:pt x="3187204" y="1182662"/>
                  </a:lnTo>
                  <a:lnTo>
                    <a:pt x="3231362" y="1161808"/>
                  </a:lnTo>
                  <a:lnTo>
                    <a:pt x="3256013" y="1141564"/>
                  </a:lnTo>
                  <a:lnTo>
                    <a:pt x="3256508" y="1141120"/>
                  </a:lnTo>
                  <a:lnTo>
                    <a:pt x="3285540" y="1102042"/>
                  </a:lnTo>
                  <a:lnTo>
                    <a:pt x="3302012" y="1056068"/>
                  </a:lnTo>
                  <a:lnTo>
                    <a:pt x="3305175" y="1023645"/>
                  </a:lnTo>
                  <a:lnTo>
                    <a:pt x="3305175" y="75361"/>
                  </a:lnTo>
                  <a:close/>
                </a:path>
              </a:pathLst>
            </a:custGeom>
            <a:solidFill>
              <a:srgbClr val="B2D5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5">
              <a:extLst>
                <a:ext uri="{FF2B5EF4-FFF2-40B4-BE49-F238E27FC236}">
                  <a16:creationId xmlns:a16="http://schemas.microsoft.com/office/drawing/2014/main" id="{86027305-C850-8D61-A422-826388F2CA4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9124" y="1581150"/>
              <a:ext cx="3305174" cy="400049"/>
            </a:xfrm>
            <a:prstGeom prst="rect">
              <a:avLst/>
            </a:prstGeom>
          </p:spPr>
        </p:pic>
      </p:grpSp>
      <p:sp>
        <p:nvSpPr>
          <p:cNvPr id="28" name="Shape 18"/>
          <p:cNvSpPr/>
          <p:nvPr/>
        </p:nvSpPr>
        <p:spPr>
          <a:xfrm>
            <a:off x="5198031" y="4227790"/>
            <a:ext cx="4234220" cy="1530310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80" name="object 3">
            <a:extLst>
              <a:ext uri="{FF2B5EF4-FFF2-40B4-BE49-F238E27FC236}">
                <a16:creationId xmlns:a16="http://schemas.microsoft.com/office/drawing/2014/main" id="{4A0C1AA6-D85C-D2A9-462C-5EE1F077D76A}"/>
              </a:ext>
            </a:extLst>
          </p:cNvPr>
          <p:cNvGrpSpPr/>
          <p:nvPr/>
        </p:nvGrpSpPr>
        <p:grpSpPr>
          <a:xfrm>
            <a:off x="5220891" y="4086517"/>
            <a:ext cx="4034122" cy="1671583"/>
            <a:chOff x="619124" y="1581150"/>
            <a:chExt cx="3305175" cy="1390650"/>
          </a:xfrm>
        </p:grpSpPr>
        <p:sp>
          <p:nvSpPr>
            <p:cNvPr id="81" name="object 4">
              <a:extLst>
                <a:ext uri="{FF2B5EF4-FFF2-40B4-BE49-F238E27FC236}">
                  <a16:creationId xmlns:a16="http://schemas.microsoft.com/office/drawing/2014/main" id="{A70DC260-BE0B-C66C-76C9-0B9D2E5CE2F4}"/>
                </a:ext>
              </a:extLst>
            </p:cNvPr>
            <p:cNvSpPr/>
            <p:nvPr/>
          </p:nvSpPr>
          <p:spPr>
            <a:xfrm>
              <a:off x="619112" y="1782025"/>
              <a:ext cx="3305175" cy="1189990"/>
            </a:xfrm>
            <a:custGeom>
              <a:avLst/>
              <a:gdLst/>
              <a:ahLst/>
              <a:cxnLst/>
              <a:rect l="l" t="t" r="r" b="b"/>
              <a:pathLst>
                <a:path w="3305175" h="1189989">
                  <a:moveTo>
                    <a:pt x="3305175" y="75361"/>
                  </a:moveTo>
                  <a:lnTo>
                    <a:pt x="3292348" y="33020"/>
                  </a:lnTo>
                  <a:lnTo>
                    <a:pt x="3258134" y="4965"/>
                  </a:lnTo>
                  <a:lnTo>
                    <a:pt x="3239744" y="0"/>
                  </a:lnTo>
                  <a:lnTo>
                    <a:pt x="3243846" y="1092"/>
                  </a:lnTo>
                  <a:lnTo>
                    <a:pt x="3257842" y="8826"/>
                  </a:lnTo>
                  <a:lnTo>
                    <a:pt x="3281769" y="46202"/>
                  </a:lnTo>
                  <a:lnTo>
                    <a:pt x="3286125" y="75361"/>
                  </a:lnTo>
                  <a:lnTo>
                    <a:pt x="3286125" y="1023645"/>
                  </a:lnTo>
                  <a:lnTo>
                    <a:pt x="3279825" y="1066279"/>
                  </a:lnTo>
                  <a:lnTo>
                    <a:pt x="3261360" y="1105382"/>
                  </a:lnTo>
                  <a:lnTo>
                    <a:pt x="3242551" y="1128102"/>
                  </a:lnTo>
                  <a:lnTo>
                    <a:pt x="3208451" y="1153337"/>
                  </a:lnTo>
                  <a:lnTo>
                    <a:pt x="3167748" y="1167930"/>
                  </a:lnTo>
                  <a:lnTo>
                    <a:pt x="3152813" y="1170139"/>
                  </a:lnTo>
                  <a:lnTo>
                    <a:pt x="3151327" y="1170139"/>
                  </a:lnTo>
                  <a:lnTo>
                    <a:pt x="3139046" y="1170736"/>
                  </a:lnTo>
                  <a:lnTo>
                    <a:pt x="166141" y="1170736"/>
                  </a:lnTo>
                  <a:lnTo>
                    <a:pt x="153860" y="1170139"/>
                  </a:lnTo>
                  <a:lnTo>
                    <a:pt x="152374" y="1170139"/>
                  </a:lnTo>
                  <a:lnTo>
                    <a:pt x="109855" y="1159535"/>
                  </a:lnTo>
                  <a:lnTo>
                    <a:pt x="72872" y="1137399"/>
                  </a:lnTo>
                  <a:lnTo>
                    <a:pt x="62623" y="1128115"/>
                  </a:lnTo>
                  <a:lnTo>
                    <a:pt x="62141" y="1127658"/>
                  </a:lnTo>
                  <a:lnTo>
                    <a:pt x="36449" y="1093050"/>
                  </a:lnTo>
                  <a:lnTo>
                    <a:pt x="21856" y="1052347"/>
                  </a:lnTo>
                  <a:lnTo>
                    <a:pt x="19050" y="1023645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41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023645"/>
                  </a:lnTo>
                  <a:lnTo>
                    <a:pt x="7124" y="1071803"/>
                  </a:lnTo>
                  <a:lnTo>
                    <a:pt x="27978" y="1115961"/>
                  </a:lnTo>
                  <a:lnTo>
                    <a:pt x="60794" y="1152131"/>
                  </a:lnTo>
                  <a:lnTo>
                    <a:pt x="102565" y="1177137"/>
                  </a:lnTo>
                  <a:lnTo>
                    <a:pt x="149771" y="1188986"/>
                  </a:lnTo>
                  <a:lnTo>
                    <a:pt x="166141" y="1189786"/>
                  </a:lnTo>
                  <a:lnTo>
                    <a:pt x="3139046" y="1189786"/>
                  </a:lnTo>
                  <a:lnTo>
                    <a:pt x="3187204" y="1182662"/>
                  </a:lnTo>
                  <a:lnTo>
                    <a:pt x="3231362" y="1161808"/>
                  </a:lnTo>
                  <a:lnTo>
                    <a:pt x="3256013" y="1141564"/>
                  </a:lnTo>
                  <a:lnTo>
                    <a:pt x="3256508" y="1141120"/>
                  </a:lnTo>
                  <a:lnTo>
                    <a:pt x="3285540" y="1102042"/>
                  </a:lnTo>
                  <a:lnTo>
                    <a:pt x="3302012" y="1056068"/>
                  </a:lnTo>
                  <a:lnTo>
                    <a:pt x="3305175" y="1023645"/>
                  </a:lnTo>
                  <a:lnTo>
                    <a:pt x="3305175" y="75361"/>
                  </a:lnTo>
                  <a:close/>
                </a:path>
              </a:pathLst>
            </a:custGeom>
            <a:solidFill>
              <a:srgbClr val="B2D5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5">
              <a:extLst>
                <a:ext uri="{FF2B5EF4-FFF2-40B4-BE49-F238E27FC236}">
                  <a16:creationId xmlns:a16="http://schemas.microsoft.com/office/drawing/2014/main" id="{02B77A09-81DF-88ED-1DC0-F6B23B3E300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9124" y="1581150"/>
              <a:ext cx="3305174" cy="400049"/>
            </a:xfrm>
            <a:prstGeom prst="rect">
              <a:avLst/>
            </a:prstGeom>
          </p:spPr>
        </p:pic>
      </p:grpSp>
      <p:sp>
        <p:nvSpPr>
          <p:cNvPr id="34" name="Shape 22"/>
          <p:cNvSpPr/>
          <p:nvPr/>
        </p:nvSpPr>
        <p:spPr>
          <a:xfrm>
            <a:off x="9602272" y="4227790"/>
            <a:ext cx="4234220" cy="1530310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86" name="object 3">
            <a:extLst>
              <a:ext uri="{FF2B5EF4-FFF2-40B4-BE49-F238E27FC236}">
                <a16:creationId xmlns:a16="http://schemas.microsoft.com/office/drawing/2014/main" id="{5FB93DA9-AC08-4F30-3E98-63011C44158F}"/>
              </a:ext>
            </a:extLst>
          </p:cNvPr>
          <p:cNvGrpSpPr/>
          <p:nvPr/>
        </p:nvGrpSpPr>
        <p:grpSpPr>
          <a:xfrm>
            <a:off x="9640762" y="4086517"/>
            <a:ext cx="4034122" cy="1671583"/>
            <a:chOff x="619124" y="1581150"/>
            <a:chExt cx="3305175" cy="1390650"/>
          </a:xfrm>
        </p:grpSpPr>
        <p:sp>
          <p:nvSpPr>
            <p:cNvPr id="87" name="object 4">
              <a:extLst>
                <a:ext uri="{FF2B5EF4-FFF2-40B4-BE49-F238E27FC236}">
                  <a16:creationId xmlns:a16="http://schemas.microsoft.com/office/drawing/2014/main" id="{EC78E926-899A-C1A0-3FFA-E79BA1A92AF1}"/>
                </a:ext>
              </a:extLst>
            </p:cNvPr>
            <p:cNvSpPr/>
            <p:nvPr/>
          </p:nvSpPr>
          <p:spPr>
            <a:xfrm>
              <a:off x="619112" y="1782025"/>
              <a:ext cx="3305175" cy="1189990"/>
            </a:xfrm>
            <a:custGeom>
              <a:avLst/>
              <a:gdLst/>
              <a:ahLst/>
              <a:cxnLst/>
              <a:rect l="l" t="t" r="r" b="b"/>
              <a:pathLst>
                <a:path w="3305175" h="1189989">
                  <a:moveTo>
                    <a:pt x="3305175" y="75361"/>
                  </a:moveTo>
                  <a:lnTo>
                    <a:pt x="3292348" y="33020"/>
                  </a:lnTo>
                  <a:lnTo>
                    <a:pt x="3258134" y="4965"/>
                  </a:lnTo>
                  <a:lnTo>
                    <a:pt x="3239744" y="0"/>
                  </a:lnTo>
                  <a:lnTo>
                    <a:pt x="3243846" y="1092"/>
                  </a:lnTo>
                  <a:lnTo>
                    <a:pt x="3257842" y="8826"/>
                  </a:lnTo>
                  <a:lnTo>
                    <a:pt x="3281769" y="46202"/>
                  </a:lnTo>
                  <a:lnTo>
                    <a:pt x="3286125" y="75361"/>
                  </a:lnTo>
                  <a:lnTo>
                    <a:pt x="3286125" y="1023645"/>
                  </a:lnTo>
                  <a:lnTo>
                    <a:pt x="3279825" y="1066279"/>
                  </a:lnTo>
                  <a:lnTo>
                    <a:pt x="3261360" y="1105382"/>
                  </a:lnTo>
                  <a:lnTo>
                    <a:pt x="3242551" y="1128102"/>
                  </a:lnTo>
                  <a:lnTo>
                    <a:pt x="3208451" y="1153337"/>
                  </a:lnTo>
                  <a:lnTo>
                    <a:pt x="3167748" y="1167930"/>
                  </a:lnTo>
                  <a:lnTo>
                    <a:pt x="3152813" y="1170139"/>
                  </a:lnTo>
                  <a:lnTo>
                    <a:pt x="3151327" y="1170139"/>
                  </a:lnTo>
                  <a:lnTo>
                    <a:pt x="3139046" y="1170736"/>
                  </a:lnTo>
                  <a:lnTo>
                    <a:pt x="166141" y="1170736"/>
                  </a:lnTo>
                  <a:lnTo>
                    <a:pt x="153860" y="1170139"/>
                  </a:lnTo>
                  <a:lnTo>
                    <a:pt x="152374" y="1170139"/>
                  </a:lnTo>
                  <a:lnTo>
                    <a:pt x="109855" y="1159535"/>
                  </a:lnTo>
                  <a:lnTo>
                    <a:pt x="72872" y="1137399"/>
                  </a:lnTo>
                  <a:lnTo>
                    <a:pt x="62623" y="1128115"/>
                  </a:lnTo>
                  <a:lnTo>
                    <a:pt x="62141" y="1127658"/>
                  </a:lnTo>
                  <a:lnTo>
                    <a:pt x="36449" y="1093050"/>
                  </a:lnTo>
                  <a:lnTo>
                    <a:pt x="21856" y="1052347"/>
                  </a:lnTo>
                  <a:lnTo>
                    <a:pt x="19050" y="1023645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41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023645"/>
                  </a:lnTo>
                  <a:lnTo>
                    <a:pt x="7124" y="1071803"/>
                  </a:lnTo>
                  <a:lnTo>
                    <a:pt x="27978" y="1115961"/>
                  </a:lnTo>
                  <a:lnTo>
                    <a:pt x="60794" y="1152131"/>
                  </a:lnTo>
                  <a:lnTo>
                    <a:pt x="102565" y="1177137"/>
                  </a:lnTo>
                  <a:lnTo>
                    <a:pt x="149771" y="1188986"/>
                  </a:lnTo>
                  <a:lnTo>
                    <a:pt x="166141" y="1189786"/>
                  </a:lnTo>
                  <a:lnTo>
                    <a:pt x="3139046" y="1189786"/>
                  </a:lnTo>
                  <a:lnTo>
                    <a:pt x="3187204" y="1182662"/>
                  </a:lnTo>
                  <a:lnTo>
                    <a:pt x="3231362" y="1161808"/>
                  </a:lnTo>
                  <a:lnTo>
                    <a:pt x="3256013" y="1141564"/>
                  </a:lnTo>
                  <a:lnTo>
                    <a:pt x="3256508" y="1141120"/>
                  </a:lnTo>
                  <a:lnTo>
                    <a:pt x="3285540" y="1102042"/>
                  </a:lnTo>
                  <a:lnTo>
                    <a:pt x="3302012" y="1056068"/>
                  </a:lnTo>
                  <a:lnTo>
                    <a:pt x="3305175" y="1023645"/>
                  </a:lnTo>
                  <a:lnTo>
                    <a:pt x="3305175" y="75361"/>
                  </a:lnTo>
                  <a:close/>
                </a:path>
              </a:pathLst>
            </a:custGeom>
            <a:solidFill>
              <a:srgbClr val="B2D5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5">
              <a:extLst>
                <a:ext uri="{FF2B5EF4-FFF2-40B4-BE49-F238E27FC236}">
                  <a16:creationId xmlns:a16="http://schemas.microsoft.com/office/drawing/2014/main" id="{9C25A4A9-BF3C-960B-D9BD-2C17B992614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9124" y="1581150"/>
              <a:ext cx="3305174" cy="400049"/>
            </a:xfrm>
            <a:prstGeom prst="rect">
              <a:avLst/>
            </a:prstGeom>
          </p:spPr>
        </p:pic>
      </p:grpSp>
      <p:sp>
        <p:nvSpPr>
          <p:cNvPr id="40" name="Shape 26"/>
          <p:cNvSpPr/>
          <p:nvPr/>
        </p:nvSpPr>
        <p:spPr>
          <a:xfrm>
            <a:off x="793790" y="6183273"/>
            <a:ext cx="13042702" cy="1258133"/>
          </a:xfrm>
          <a:prstGeom prst="roundRect">
            <a:avLst>
              <a:gd name="adj" fmla="val 87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89" name="object 32">
            <a:extLst>
              <a:ext uri="{FF2B5EF4-FFF2-40B4-BE49-F238E27FC236}">
                <a16:creationId xmlns:a16="http://schemas.microsoft.com/office/drawing/2014/main" id="{8E31DAC9-03E4-6592-C125-2BCF2788597A}"/>
              </a:ext>
            </a:extLst>
          </p:cNvPr>
          <p:cNvGrpSpPr/>
          <p:nvPr/>
        </p:nvGrpSpPr>
        <p:grpSpPr>
          <a:xfrm>
            <a:off x="793789" y="6058633"/>
            <a:ext cx="12881094" cy="1575066"/>
            <a:chOff x="619124" y="4638675"/>
            <a:chExt cx="10191750" cy="1181100"/>
          </a:xfrm>
        </p:grpSpPr>
        <p:sp>
          <p:nvSpPr>
            <p:cNvPr id="90" name="object 33">
              <a:extLst>
                <a:ext uri="{FF2B5EF4-FFF2-40B4-BE49-F238E27FC236}">
                  <a16:creationId xmlns:a16="http://schemas.microsoft.com/office/drawing/2014/main" id="{4D9BEFD5-ED7D-DBE9-A51B-401E21663DAC}"/>
                </a:ext>
              </a:extLst>
            </p:cNvPr>
            <p:cNvSpPr/>
            <p:nvPr/>
          </p:nvSpPr>
          <p:spPr>
            <a:xfrm>
              <a:off x="619112" y="4839550"/>
              <a:ext cx="10191750" cy="980440"/>
            </a:xfrm>
            <a:custGeom>
              <a:avLst/>
              <a:gdLst/>
              <a:ahLst/>
              <a:cxnLst/>
              <a:rect l="l" t="t" r="r" b="b"/>
              <a:pathLst>
                <a:path w="10191750" h="980439">
                  <a:moveTo>
                    <a:pt x="10191750" y="75361"/>
                  </a:moveTo>
                  <a:lnTo>
                    <a:pt x="10178923" y="33020"/>
                  </a:lnTo>
                  <a:lnTo>
                    <a:pt x="10144709" y="4965"/>
                  </a:lnTo>
                  <a:lnTo>
                    <a:pt x="10126307" y="0"/>
                  </a:lnTo>
                  <a:lnTo>
                    <a:pt x="10130422" y="1092"/>
                  </a:lnTo>
                  <a:lnTo>
                    <a:pt x="10144417" y="8826"/>
                  </a:lnTo>
                  <a:lnTo>
                    <a:pt x="10168344" y="46202"/>
                  </a:lnTo>
                  <a:lnTo>
                    <a:pt x="10172700" y="75361"/>
                  </a:lnTo>
                  <a:lnTo>
                    <a:pt x="10172700" y="814095"/>
                  </a:lnTo>
                  <a:lnTo>
                    <a:pt x="10166401" y="856729"/>
                  </a:lnTo>
                  <a:lnTo>
                    <a:pt x="10147935" y="895832"/>
                  </a:lnTo>
                  <a:lnTo>
                    <a:pt x="10129126" y="918552"/>
                  </a:lnTo>
                  <a:lnTo>
                    <a:pt x="10095027" y="943787"/>
                  </a:lnTo>
                  <a:lnTo>
                    <a:pt x="10054323" y="958380"/>
                  </a:lnTo>
                  <a:lnTo>
                    <a:pt x="10039388" y="960589"/>
                  </a:lnTo>
                  <a:lnTo>
                    <a:pt x="10037889" y="960589"/>
                  </a:lnTo>
                  <a:lnTo>
                    <a:pt x="10025621" y="961186"/>
                  </a:lnTo>
                  <a:lnTo>
                    <a:pt x="166141" y="961186"/>
                  </a:lnTo>
                  <a:lnTo>
                    <a:pt x="153873" y="960589"/>
                  </a:lnTo>
                  <a:lnTo>
                    <a:pt x="152374" y="960589"/>
                  </a:lnTo>
                  <a:lnTo>
                    <a:pt x="109855" y="949985"/>
                  </a:lnTo>
                  <a:lnTo>
                    <a:pt x="72872" y="927849"/>
                  </a:lnTo>
                  <a:lnTo>
                    <a:pt x="62623" y="918565"/>
                  </a:lnTo>
                  <a:lnTo>
                    <a:pt x="62141" y="918108"/>
                  </a:lnTo>
                  <a:lnTo>
                    <a:pt x="52387" y="907364"/>
                  </a:lnTo>
                  <a:lnTo>
                    <a:pt x="43815" y="895832"/>
                  </a:lnTo>
                  <a:lnTo>
                    <a:pt x="25349" y="856729"/>
                  </a:lnTo>
                  <a:lnTo>
                    <a:pt x="19050" y="814095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41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814095"/>
                  </a:lnTo>
                  <a:lnTo>
                    <a:pt x="7124" y="862253"/>
                  </a:lnTo>
                  <a:lnTo>
                    <a:pt x="27978" y="906411"/>
                  </a:lnTo>
                  <a:lnTo>
                    <a:pt x="60794" y="942581"/>
                  </a:lnTo>
                  <a:lnTo>
                    <a:pt x="102565" y="967587"/>
                  </a:lnTo>
                  <a:lnTo>
                    <a:pt x="149771" y="979436"/>
                  </a:lnTo>
                  <a:lnTo>
                    <a:pt x="166141" y="980236"/>
                  </a:lnTo>
                  <a:lnTo>
                    <a:pt x="10025621" y="980236"/>
                  </a:lnTo>
                  <a:lnTo>
                    <a:pt x="10073780" y="973112"/>
                  </a:lnTo>
                  <a:lnTo>
                    <a:pt x="10117938" y="952258"/>
                  </a:lnTo>
                  <a:lnTo>
                    <a:pt x="10142588" y="932014"/>
                  </a:lnTo>
                  <a:lnTo>
                    <a:pt x="10143084" y="931570"/>
                  </a:lnTo>
                  <a:lnTo>
                    <a:pt x="10172116" y="892492"/>
                  </a:lnTo>
                  <a:lnTo>
                    <a:pt x="10188588" y="846518"/>
                  </a:lnTo>
                  <a:lnTo>
                    <a:pt x="10191750" y="814095"/>
                  </a:lnTo>
                  <a:lnTo>
                    <a:pt x="10191750" y="75361"/>
                  </a:lnTo>
                  <a:close/>
                </a:path>
              </a:pathLst>
            </a:custGeom>
            <a:solidFill>
              <a:srgbClr val="B2D5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34">
              <a:extLst>
                <a:ext uri="{FF2B5EF4-FFF2-40B4-BE49-F238E27FC236}">
                  <a16:creationId xmlns:a16="http://schemas.microsoft.com/office/drawing/2014/main" id="{D65D53C5-EF94-9A98-F995-DA5C7CE57994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9124" y="4638675"/>
              <a:ext cx="10191749" cy="400049"/>
            </a:xfrm>
            <a:prstGeom prst="rect">
              <a:avLst/>
            </a:prstGeom>
          </p:spPr>
        </p:pic>
      </p:grpSp>
      <p:sp>
        <p:nvSpPr>
          <p:cNvPr id="2" name="Text 0"/>
          <p:cNvSpPr/>
          <p:nvPr/>
        </p:nvSpPr>
        <p:spPr>
          <a:xfrm>
            <a:off x="793790" y="788194"/>
            <a:ext cx="376392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Resultados Obtenidos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1553647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Nuestro arduo trabajo ha culminado en una plataforma robusta y eficiente, lista para transformar la gestión del desempeño en logística.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5689" y="2017157"/>
            <a:ext cx="510302" cy="5103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72119" y="2087791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986671" y="2697599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Sistema Funcional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986671" y="3065383"/>
            <a:ext cx="384845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Plataforma operativa con roles de Administrador, Supervisor y Empleado.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9930" y="2017157"/>
            <a:ext cx="510302" cy="51030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76360" y="2087791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5390912" y="2697599"/>
            <a:ext cx="247471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Dashboards Operativos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5390912" y="3065383"/>
            <a:ext cx="384845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Visualización clara de KPIs clave para una toma de decisiones informada.</a:t>
            </a:r>
            <a:endParaRPr lang="en-US" sz="13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64171" y="2017157"/>
            <a:ext cx="510302" cy="51030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555771" y="2077472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9795153" y="2697599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Flujo Completo</a:t>
            </a:r>
            <a:endParaRPr lang="en-US" sz="1650" dirty="0"/>
          </a:p>
        </p:txBody>
      </p:sp>
      <p:sp>
        <p:nvSpPr>
          <p:cNvPr id="21" name="Text 13"/>
          <p:cNvSpPr/>
          <p:nvPr/>
        </p:nvSpPr>
        <p:spPr>
          <a:xfrm>
            <a:off x="9795153" y="3065383"/>
            <a:ext cx="384845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Gestión integral desde el registro y login hasta la asignación de tareas.</a:t>
            </a:r>
            <a:endParaRPr lang="en-US" sz="13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5689" y="3972639"/>
            <a:ext cx="510302" cy="51030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2772119" y="4114245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16"/>
          <p:cNvSpPr/>
          <p:nvPr/>
        </p:nvSpPr>
        <p:spPr>
          <a:xfrm>
            <a:off x="986671" y="4653082"/>
            <a:ext cx="2450902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Módulo de Supervisión</a:t>
            </a:r>
            <a:endParaRPr lang="en-US" sz="1650" dirty="0"/>
          </a:p>
        </p:txBody>
      </p:sp>
      <p:sp>
        <p:nvSpPr>
          <p:cNvPr id="27" name="Text 17"/>
          <p:cNvSpPr/>
          <p:nvPr/>
        </p:nvSpPr>
        <p:spPr>
          <a:xfrm>
            <a:off x="986671" y="5020866"/>
            <a:ext cx="384845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Funcionalidad completa para supervisores con herramientas de control y seguimiento.</a:t>
            </a:r>
            <a:endParaRPr lang="en-US" sz="130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9930" y="3972639"/>
            <a:ext cx="510302" cy="510302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7182221" y="4145095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20"/>
          <p:cNvSpPr/>
          <p:nvPr/>
        </p:nvSpPr>
        <p:spPr>
          <a:xfrm>
            <a:off x="5390912" y="4653082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Métricas Integradas</a:t>
            </a:r>
            <a:endParaRPr lang="en-US" sz="1650" dirty="0"/>
          </a:p>
        </p:txBody>
      </p:sp>
      <p:sp>
        <p:nvSpPr>
          <p:cNvPr id="33" name="Text 21"/>
          <p:cNvSpPr/>
          <p:nvPr/>
        </p:nvSpPr>
        <p:spPr>
          <a:xfrm>
            <a:off x="5390912" y="5020866"/>
            <a:ext cx="384845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Información de desempeño individual y general para una evaluación objetiva.</a:t>
            </a:r>
            <a:endParaRPr lang="en-US" sz="1300" dirty="0"/>
          </a:p>
        </p:txBody>
      </p:sp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64171" y="3972639"/>
            <a:ext cx="510302" cy="510302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11585155" y="4125630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24"/>
          <p:cNvSpPr/>
          <p:nvPr/>
        </p:nvSpPr>
        <p:spPr>
          <a:xfrm>
            <a:off x="9795153" y="4653082"/>
            <a:ext cx="235124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Testing Automatizado</a:t>
            </a:r>
            <a:endParaRPr lang="en-US" sz="1650" dirty="0"/>
          </a:p>
        </p:txBody>
      </p:sp>
      <p:sp>
        <p:nvSpPr>
          <p:cNvPr id="39" name="Text 25"/>
          <p:cNvSpPr/>
          <p:nvPr/>
        </p:nvSpPr>
        <p:spPr>
          <a:xfrm>
            <a:off x="9795153" y="5020866"/>
            <a:ext cx="384845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Garantía de calidad y estabilidad mediante pruebas rigurosas.</a:t>
            </a:r>
            <a:endParaRPr lang="en-US" sz="13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9930" y="5928122"/>
            <a:ext cx="510302" cy="510302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>
            <a:off x="7182222" y="6142326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7</a:t>
            </a:r>
            <a:endParaRPr lang="en-US" sz="1600" dirty="0"/>
          </a:p>
        </p:txBody>
      </p:sp>
      <p:sp>
        <p:nvSpPr>
          <p:cNvPr id="44" name="Text 28"/>
          <p:cNvSpPr/>
          <p:nvPr/>
        </p:nvSpPr>
        <p:spPr>
          <a:xfrm>
            <a:off x="986671" y="660856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Diseño Coherente</a:t>
            </a:r>
            <a:endParaRPr lang="en-US" sz="1650" dirty="0"/>
          </a:p>
        </p:txBody>
      </p:sp>
      <p:sp>
        <p:nvSpPr>
          <p:cNvPr id="45" name="Text 29"/>
          <p:cNvSpPr/>
          <p:nvPr/>
        </p:nvSpPr>
        <p:spPr>
          <a:xfrm>
            <a:off x="986671" y="6976348"/>
            <a:ext cx="12656939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Interfaz de usuario intuitiva y visualmente atractiva.</a:t>
            </a:r>
            <a:endParaRPr lang="en-US" sz="1300" dirty="0"/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AF50AEFB-DFF8-C27E-0B92-7928A751B8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791326" y="7633699"/>
            <a:ext cx="1839074" cy="5959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object 7">
            <a:extLst>
              <a:ext uri="{FF2B5EF4-FFF2-40B4-BE49-F238E27FC236}">
                <a16:creationId xmlns:a16="http://schemas.microsoft.com/office/drawing/2014/main" id="{98356690-7C04-A3A9-544D-07027DEF3573}"/>
              </a:ext>
            </a:extLst>
          </p:cNvPr>
          <p:cNvGrpSpPr/>
          <p:nvPr/>
        </p:nvGrpSpPr>
        <p:grpSpPr>
          <a:xfrm>
            <a:off x="790818" y="2768564"/>
            <a:ext cx="783940" cy="765714"/>
            <a:chOff x="604813" y="1479466"/>
            <a:chExt cx="606425" cy="606425"/>
          </a:xfrm>
        </p:grpSpPr>
        <p:pic>
          <p:nvPicPr>
            <p:cNvPr id="44" name="object 8">
              <a:extLst>
                <a:ext uri="{FF2B5EF4-FFF2-40B4-BE49-F238E27FC236}">
                  <a16:creationId xmlns:a16="http://schemas.microsoft.com/office/drawing/2014/main" id="{0E425D61-26CD-831B-5322-2351B3F72A0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4813" y="1479466"/>
              <a:ext cx="605898" cy="605830"/>
            </a:xfrm>
            <a:prstGeom prst="rect">
              <a:avLst/>
            </a:prstGeom>
          </p:spPr>
        </p:pic>
        <p:sp>
          <p:nvSpPr>
            <p:cNvPr id="45" name="object 9">
              <a:extLst>
                <a:ext uri="{FF2B5EF4-FFF2-40B4-BE49-F238E27FC236}">
                  <a16:creationId xmlns:a16="http://schemas.microsoft.com/office/drawing/2014/main" id="{A96285F1-BC40-6D39-ECB5-8C0267E8ED03}"/>
                </a:ext>
              </a:extLst>
            </p:cNvPr>
            <p:cNvSpPr/>
            <p:nvPr/>
          </p:nvSpPr>
          <p:spPr>
            <a:xfrm>
              <a:off x="604813" y="1479466"/>
              <a:ext cx="606425" cy="606425"/>
            </a:xfrm>
            <a:custGeom>
              <a:avLst/>
              <a:gdLst/>
              <a:ahLst/>
              <a:cxnLst/>
              <a:rect l="l" t="t" r="r" b="b"/>
              <a:pathLst>
                <a:path w="606425" h="606425">
                  <a:moveTo>
                    <a:pt x="0" y="605830"/>
                  </a:moveTo>
                  <a:lnTo>
                    <a:pt x="0" y="181766"/>
                  </a:lnTo>
                  <a:lnTo>
                    <a:pt x="605898" y="0"/>
                  </a:lnTo>
                  <a:lnTo>
                    <a:pt x="605898" y="424064"/>
                  </a:lnTo>
                  <a:lnTo>
                    <a:pt x="0" y="605830"/>
                  </a:lnTo>
                  <a:close/>
                </a:path>
              </a:pathLst>
            </a:custGeom>
            <a:ln w="7573">
              <a:solidFill>
                <a:srgbClr val="B2D5E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7">
            <a:extLst>
              <a:ext uri="{FF2B5EF4-FFF2-40B4-BE49-F238E27FC236}">
                <a16:creationId xmlns:a16="http://schemas.microsoft.com/office/drawing/2014/main" id="{59905862-D350-85BA-5778-E90DE8E833F9}"/>
              </a:ext>
            </a:extLst>
          </p:cNvPr>
          <p:cNvGrpSpPr/>
          <p:nvPr/>
        </p:nvGrpSpPr>
        <p:grpSpPr>
          <a:xfrm>
            <a:off x="798714" y="1853849"/>
            <a:ext cx="783940" cy="765714"/>
            <a:chOff x="604813" y="1479466"/>
            <a:chExt cx="606425" cy="606425"/>
          </a:xfrm>
        </p:grpSpPr>
        <p:pic>
          <p:nvPicPr>
            <p:cNvPr id="23" name="object 8">
              <a:extLst>
                <a:ext uri="{FF2B5EF4-FFF2-40B4-BE49-F238E27FC236}">
                  <a16:creationId xmlns:a16="http://schemas.microsoft.com/office/drawing/2014/main" id="{4077A466-0FD5-2259-E18B-7C3C0ED3D7A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4813" y="1479466"/>
              <a:ext cx="605898" cy="605830"/>
            </a:xfrm>
            <a:prstGeom prst="rect">
              <a:avLst/>
            </a:prstGeom>
          </p:spPr>
        </p:pic>
        <p:sp>
          <p:nvSpPr>
            <p:cNvPr id="24" name="object 9">
              <a:extLst>
                <a:ext uri="{FF2B5EF4-FFF2-40B4-BE49-F238E27FC236}">
                  <a16:creationId xmlns:a16="http://schemas.microsoft.com/office/drawing/2014/main" id="{824D9869-8760-79DA-830E-5C52B9CECB28}"/>
                </a:ext>
              </a:extLst>
            </p:cNvPr>
            <p:cNvSpPr/>
            <p:nvPr/>
          </p:nvSpPr>
          <p:spPr>
            <a:xfrm>
              <a:off x="604813" y="1479466"/>
              <a:ext cx="606425" cy="606425"/>
            </a:xfrm>
            <a:custGeom>
              <a:avLst/>
              <a:gdLst/>
              <a:ahLst/>
              <a:cxnLst/>
              <a:rect l="l" t="t" r="r" b="b"/>
              <a:pathLst>
                <a:path w="606425" h="606425">
                  <a:moveTo>
                    <a:pt x="0" y="605830"/>
                  </a:moveTo>
                  <a:lnTo>
                    <a:pt x="0" y="181766"/>
                  </a:lnTo>
                  <a:lnTo>
                    <a:pt x="605898" y="0"/>
                  </a:lnTo>
                  <a:lnTo>
                    <a:pt x="605898" y="424064"/>
                  </a:lnTo>
                  <a:lnTo>
                    <a:pt x="0" y="605830"/>
                  </a:lnTo>
                  <a:close/>
                </a:path>
              </a:pathLst>
            </a:custGeom>
            <a:ln w="7573">
              <a:solidFill>
                <a:srgbClr val="B2D5E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7">
            <a:extLst>
              <a:ext uri="{FF2B5EF4-FFF2-40B4-BE49-F238E27FC236}">
                <a16:creationId xmlns:a16="http://schemas.microsoft.com/office/drawing/2014/main" id="{A91866D6-B997-B8FD-C819-5472845FC9A1}"/>
              </a:ext>
            </a:extLst>
          </p:cNvPr>
          <p:cNvGrpSpPr/>
          <p:nvPr/>
        </p:nvGrpSpPr>
        <p:grpSpPr>
          <a:xfrm>
            <a:off x="793108" y="3742703"/>
            <a:ext cx="783940" cy="765714"/>
            <a:chOff x="604813" y="1479466"/>
            <a:chExt cx="606425" cy="606425"/>
          </a:xfrm>
        </p:grpSpPr>
        <p:pic>
          <p:nvPicPr>
            <p:cNvPr id="32" name="object 8">
              <a:extLst>
                <a:ext uri="{FF2B5EF4-FFF2-40B4-BE49-F238E27FC236}">
                  <a16:creationId xmlns:a16="http://schemas.microsoft.com/office/drawing/2014/main" id="{35CBBCF6-A9B6-02F6-FDB3-A89D95716D7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4813" y="1479466"/>
              <a:ext cx="605898" cy="605830"/>
            </a:xfrm>
            <a:prstGeom prst="rect">
              <a:avLst/>
            </a:prstGeom>
          </p:spPr>
        </p:pic>
        <p:sp>
          <p:nvSpPr>
            <p:cNvPr id="33" name="object 9">
              <a:extLst>
                <a:ext uri="{FF2B5EF4-FFF2-40B4-BE49-F238E27FC236}">
                  <a16:creationId xmlns:a16="http://schemas.microsoft.com/office/drawing/2014/main" id="{8880A13E-4DCD-4502-89BC-06F08B1A29DB}"/>
                </a:ext>
              </a:extLst>
            </p:cNvPr>
            <p:cNvSpPr/>
            <p:nvPr/>
          </p:nvSpPr>
          <p:spPr>
            <a:xfrm>
              <a:off x="604813" y="1479466"/>
              <a:ext cx="606425" cy="606425"/>
            </a:xfrm>
            <a:custGeom>
              <a:avLst/>
              <a:gdLst/>
              <a:ahLst/>
              <a:cxnLst/>
              <a:rect l="l" t="t" r="r" b="b"/>
              <a:pathLst>
                <a:path w="606425" h="606425">
                  <a:moveTo>
                    <a:pt x="0" y="605830"/>
                  </a:moveTo>
                  <a:lnTo>
                    <a:pt x="0" y="181766"/>
                  </a:lnTo>
                  <a:lnTo>
                    <a:pt x="605898" y="0"/>
                  </a:lnTo>
                  <a:lnTo>
                    <a:pt x="605898" y="424064"/>
                  </a:lnTo>
                  <a:lnTo>
                    <a:pt x="0" y="605830"/>
                  </a:lnTo>
                  <a:close/>
                </a:path>
              </a:pathLst>
            </a:custGeom>
            <a:ln w="7573">
              <a:solidFill>
                <a:srgbClr val="B2D5E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7">
            <a:extLst>
              <a:ext uri="{FF2B5EF4-FFF2-40B4-BE49-F238E27FC236}">
                <a16:creationId xmlns:a16="http://schemas.microsoft.com/office/drawing/2014/main" id="{22E8D9BC-615D-E3F3-6CC4-B3153FA9B651}"/>
              </a:ext>
            </a:extLst>
          </p:cNvPr>
          <p:cNvGrpSpPr/>
          <p:nvPr/>
        </p:nvGrpSpPr>
        <p:grpSpPr>
          <a:xfrm>
            <a:off x="798033" y="4695322"/>
            <a:ext cx="783940" cy="765714"/>
            <a:chOff x="604813" y="1479466"/>
            <a:chExt cx="606425" cy="606425"/>
          </a:xfrm>
        </p:grpSpPr>
        <p:pic>
          <p:nvPicPr>
            <p:cNvPr id="35" name="object 8">
              <a:extLst>
                <a:ext uri="{FF2B5EF4-FFF2-40B4-BE49-F238E27FC236}">
                  <a16:creationId xmlns:a16="http://schemas.microsoft.com/office/drawing/2014/main" id="{6F9C7C62-2D65-C81F-FC96-485A6DF00A0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4813" y="1479466"/>
              <a:ext cx="605898" cy="605830"/>
            </a:xfrm>
            <a:prstGeom prst="rect">
              <a:avLst/>
            </a:prstGeom>
          </p:spPr>
        </p:pic>
        <p:sp>
          <p:nvSpPr>
            <p:cNvPr id="36" name="object 9">
              <a:extLst>
                <a:ext uri="{FF2B5EF4-FFF2-40B4-BE49-F238E27FC236}">
                  <a16:creationId xmlns:a16="http://schemas.microsoft.com/office/drawing/2014/main" id="{CABC34AF-8746-2A85-7A15-4735082C4190}"/>
                </a:ext>
              </a:extLst>
            </p:cNvPr>
            <p:cNvSpPr/>
            <p:nvPr/>
          </p:nvSpPr>
          <p:spPr>
            <a:xfrm>
              <a:off x="604813" y="1479466"/>
              <a:ext cx="606425" cy="606425"/>
            </a:xfrm>
            <a:custGeom>
              <a:avLst/>
              <a:gdLst/>
              <a:ahLst/>
              <a:cxnLst/>
              <a:rect l="l" t="t" r="r" b="b"/>
              <a:pathLst>
                <a:path w="606425" h="606425">
                  <a:moveTo>
                    <a:pt x="0" y="605830"/>
                  </a:moveTo>
                  <a:lnTo>
                    <a:pt x="0" y="181766"/>
                  </a:lnTo>
                  <a:lnTo>
                    <a:pt x="605898" y="0"/>
                  </a:lnTo>
                  <a:lnTo>
                    <a:pt x="605898" y="424064"/>
                  </a:lnTo>
                  <a:lnTo>
                    <a:pt x="0" y="605830"/>
                  </a:lnTo>
                  <a:close/>
                </a:path>
              </a:pathLst>
            </a:custGeom>
            <a:ln w="7573">
              <a:solidFill>
                <a:srgbClr val="B2D5E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7">
            <a:extLst>
              <a:ext uri="{FF2B5EF4-FFF2-40B4-BE49-F238E27FC236}">
                <a16:creationId xmlns:a16="http://schemas.microsoft.com/office/drawing/2014/main" id="{B90C15D1-FE31-E632-3335-349D2DCF458E}"/>
              </a:ext>
            </a:extLst>
          </p:cNvPr>
          <p:cNvGrpSpPr/>
          <p:nvPr/>
        </p:nvGrpSpPr>
        <p:grpSpPr>
          <a:xfrm>
            <a:off x="792180" y="5645582"/>
            <a:ext cx="783940" cy="765714"/>
            <a:chOff x="604813" y="1479466"/>
            <a:chExt cx="606425" cy="606425"/>
          </a:xfrm>
        </p:grpSpPr>
        <p:pic>
          <p:nvPicPr>
            <p:cNvPr id="38" name="object 8">
              <a:extLst>
                <a:ext uri="{FF2B5EF4-FFF2-40B4-BE49-F238E27FC236}">
                  <a16:creationId xmlns:a16="http://schemas.microsoft.com/office/drawing/2014/main" id="{66D34C7D-DE92-1685-CD65-C0793CDDB64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4813" y="1479466"/>
              <a:ext cx="605898" cy="605830"/>
            </a:xfrm>
            <a:prstGeom prst="rect">
              <a:avLst/>
            </a:prstGeom>
          </p:spPr>
        </p:pic>
        <p:sp>
          <p:nvSpPr>
            <p:cNvPr id="39" name="object 9">
              <a:extLst>
                <a:ext uri="{FF2B5EF4-FFF2-40B4-BE49-F238E27FC236}">
                  <a16:creationId xmlns:a16="http://schemas.microsoft.com/office/drawing/2014/main" id="{56FDAC6C-EEA6-5EB7-15B0-7DC99998515E}"/>
                </a:ext>
              </a:extLst>
            </p:cNvPr>
            <p:cNvSpPr/>
            <p:nvPr/>
          </p:nvSpPr>
          <p:spPr>
            <a:xfrm>
              <a:off x="604813" y="1479466"/>
              <a:ext cx="606425" cy="606425"/>
            </a:xfrm>
            <a:custGeom>
              <a:avLst/>
              <a:gdLst/>
              <a:ahLst/>
              <a:cxnLst/>
              <a:rect l="l" t="t" r="r" b="b"/>
              <a:pathLst>
                <a:path w="606425" h="606425">
                  <a:moveTo>
                    <a:pt x="0" y="605830"/>
                  </a:moveTo>
                  <a:lnTo>
                    <a:pt x="0" y="181766"/>
                  </a:lnTo>
                  <a:lnTo>
                    <a:pt x="605898" y="0"/>
                  </a:lnTo>
                  <a:lnTo>
                    <a:pt x="605898" y="424064"/>
                  </a:lnTo>
                  <a:lnTo>
                    <a:pt x="0" y="605830"/>
                  </a:lnTo>
                  <a:close/>
                </a:path>
              </a:pathLst>
            </a:custGeom>
            <a:ln w="7573">
              <a:solidFill>
                <a:srgbClr val="B2D5E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7">
            <a:extLst>
              <a:ext uri="{FF2B5EF4-FFF2-40B4-BE49-F238E27FC236}">
                <a16:creationId xmlns:a16="http://schemas.microsoft.com/office/drawing/2014/main" id="{7ABFDF01-819A-5DFA-7AD8-0074B21BBECF}"/>
              </a:ext>
            </a:extLst>
          </p:cNvPr>
          <p:cNvGrpSpPr/>
          <p:nvPr/>
        </p:nvGrpSpPr>
        <p:grpSpPr>
          <a:xfrm>
            <a:off x="791499" y="6610012"/>
            <a:ext cx="783940" cy="765714"/>
            <a:chOff x="604813" y="1479466"/>
            <a:chExt cx="606425" cy="606425"/>
          </a:xfrm>
        </p:grpSpPr>
        <p:pic>
          <p:nvPicPr>
            <p:cNvPr id="41" name="object 8">
              <a:extLst>
                <a:ext uri="{FF2B5EF4-FFF2-40B4-BE49-F238E27FC236}">
                  <a16:creationId xmlns:a16="http://schemas.microsoft.com/office/drawing/2014/main" id="{DA1729C5-E010-A0FA-B968-A89372D562F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4813" y="1479466"/>
              <a:ext cx="605898" cy="605830"/>
            </a:xfrm>
            <a:prstGeom prst="rect">
              <a:avLst/>
            </a:prstGeom>
          </p:spPr>
        </p:pic>
        <p:sp>
          <p:nvSpPr>
            <p:cNvPr id="42" name="object 9">
              <a:extLst>
                <a:ext uri="{FF2B5EF4-FFF2-40B4-BE49-F238E27FC236}">
                  <a16:creationId xmlns:a16="http://schemas.microsoft.com/office/drawing/2014/main" id="{088AFF12-53EF-1860-1EDA-566B460B7FB3}"/>
                </a:ext>
              </a:extLst>
            </p:cNvPr>
            <p:cNvSpPr/>
            <p:nvPr/>
          </p:nvSpPr>
          <p:spPr>
            <a:xfrm>
              <a:off x="604813" y="1479466"/>
              <a:ext cx="606425" cy="606425"/>
            </a:xfrm>
            <a:custGeom>
              <a:avLst/>
              <a:gdLst/>
              <a:ahLst/>
              <a:cxnLst/>
              <a:rect l="l" t="t" r="r" b="b"/>
              <a:pathLst>
                <a:path w="606425" h="606425">
                  <a:moveTo>
                    <a:pt x="0" y="605830"/>
                  </a:moveTo>
                  <a:lnTo>
                    <a:pt x="0" y="181766"/>
                  </a:lnTo>
                  <a:lnTo>
                    <a:pt x="605898" y="0"/>
                  </a:lnTo>
                  <a:lnTo>
                    <a:pt x="605898" y="424064"/>
                  </a:lnTo>
                  <a:lnTo>
                    <a:pt x="0" y="605830"/>
                  </a:lnTo>
                  <a:close/>
                </a:path>
              </a:pathLst>
            </a:custGeom>
            <a:ln w="7573">
              <a:solidFill>
                <a:srgbClr val="B2D5E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Text 0"/>
          <p:cNvSpPr/>
          <p:nvPr/>
        </p:nvSpPr>
        <p:spPr>
          <a:xfrm>
            <a:off x="793790" y="683419"/>
            <a:ext cx="3836670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Obstáculos Presentados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93790" y="1397794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 todo desarrollo, surgen desafíos que nos permiten crecer y mejorar. Aquí los principales: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746290" y="1830467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Roles y Permisos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746290" y="2173724"/>
            <a:ext cx="120903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Dificultades iniciales en la estructuración de la jerarquía de usuarios.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1746290" y="2783086"/>
            <a:ext cx="2450544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Métricas en Tiempo Real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746290" y="3126343"/>
            <a:ext cx="120903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Retos en la integración y actualización dinámica de los indicadores.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1746290" y="3735705"/>
            <a:ext cx="206740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Coordinación Diseño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1746290" y="4078962"/>
            <a:ext cx="120903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Sincronización entre el desarrollo backend y el diseño frontend.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1746290" y="4688324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Fallos de Testing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1746290" y="5031581"/>
            <a:ext cx="120903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Problemas detectados por pruebas automatizadas que bloquearon funcionalidades.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1746290" y="564094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Entornos Locales</a:t>
            </a:r>
            <a:endParaRPr lang="en-US" sz="1550" dirty="0"/>
          </a:p>
        </p:txBody>
      </p:sp>
      <p:sp>
        <p:nvSpPr>
          <p:cNvPr id="18" name="Text 11"/>
          <p:cNvSpPr/>
          <p:nvPr/>
        </p:nvSpPr>
        <p:spPr>
          <a:xfrm>
            <a:off x="1746290" y="5984200"/>
            <a:ext cx="120903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Diferencias entre configuraciones de desarrollo que generaron conflictos.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1746290" y="659356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Ajustes Visuales</a:t>
            </a:r>
            <a:endParaRPr lang="en-US" sz="1550" dirty="0"/>
          </a:p>
        </p:txBody>
      </p:sp>
      <p:sp>
        <p:nvSpPr>
          <p:cNvPr id="21" name="Text 13"/>
          <p:cNvSpPr/>
          <p:nvPr/>
        </p:nvSpPr>
        <p:spPr>
          <a:xfrm>
            <a:off x="1746290" y="6936819"/>
            <a:ext cx="120903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Correcciones persistentes en la interfaz de usuario y errores visuales.</a:t>
            </a:r>
            <a:endParaRPr lang="en-US" sz="1250" dirty="0"/>
          </a:p>
        </p:txBody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B2F5BD5E-1192-C361-16E1-7AAF92828A72}"/>
              </a:ext>
            </a:extLst>
          </p:cNvPr>
          <p:cNvSpPr/>
          <p:nvPr/>
        </p:nvSpPr>
        <p:spPr>
          <a:xfrm>
            <a:off x="1189662" y="2056715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1600" dirty="0"/>
          </a:p>
        </p:txBody>
      </p:sp>
      <p:sp>
        <p:nvSpPr>
          <p:cNvPr id="48" name="Text 3">
            <a:extLst>
              <a:ext uri="{FF2B5EF4-FFF2-40B4-BE49-F238E27FC236}">
                <a16:creationId xmlns:a16="http://schemas.microsoft.com/office/drawing/2014/main" id="{779FB3FD-2D72-5BF4-50BD-4B7DA97E701D}"/>
              </a:ext>
            </a:extLst>
          </p:cNvPr>
          <p:cNvSpPr/>
          <p:nvPr/>
        </p:nvSpPr>
        <p:spPr>
          <a:xfrm>
            <a:off x="1182445" y="2982876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s-CL" sz="1600" dirty="0">
                <a:solidFill>
                  <a:srgbClr val="000000"/>
                </a:solidFill>
                <a:latin typeface="Alexandria Medium" pitchFamily="34" charset="0"/>
                <a:cs typeface="Alexandria Medium" pitchFamily="34" charset="-120"/>
              </a:rPr>
              <a:t>2</a:t>
            </a:r>
            <a:endParaRPr lang="en-US" sz="1600" dirty="0"/>
          </a:p>
        </p:txBody>
      </p:sp>
      <p:sp>
        <p:nvSpPr>
          <p:cNvPr id="50" name="Text 3">
            <a:extLst>
              <a:ext uri="{FF2B5EF4-FFF2-40B4-BE49-F238E27FC236}">
                <a16:creationId xmlns:a16="http://schemas.microsoft.com/office/drawing/2014/main" id="{7A96AF45-002C-6085-AA95-12B20B346066}"/>
              </a:ext>
            </a:extLst>
          </p:cNvPr>
          <p:cNvSpPr/>
          <p:nvPr/>
        </p:nvSpPr>
        <p:spPr>
          <a:xfrm>
            <a:off x="1179599" y="3939574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s-CL" sz="1600" dirty="0">
                <a:solidFill>
                  <a:srgbClr val="000000"/>
                </a:solidFill>
                <a:latin typeface="Alexandria Medium" pitchFamily="34" charset="0"/>
                <a:cs typeface="Alexandria Medium" pitchFamily="34" charset="-120"/>
              </a:rPr>
              <a:t>3</a:t>
            </a:r>
            <a:endParaRPr lang="en-US" sz="1600" dirty="0"/>
          </a:p>
        </p:txBody>
      </p:sp>
      <p:sp>
        <p:nvSpPr>
          <p:cNvPr id="52" name="Text 3">
            <a:extLst>
              <a:ext uri="{FF2B5EF4-FFF2-40B4-BE49-F238E27FC236}">
                <a16:creationId xmlns:a16="http://schemas.microsoft.com/office/drawing/2014/main" id="{6C88F8EE-9280-5F82-5E82-BAD94CA51F8F}"/>
              </a:ext>
            </a:extLst>
          </p:cNvPr>
          <p:cNvSpPr/>
          <p:nvPr/>
        </p:nvSpPr>
        <p:spPr>
          <a:xfrm>
            <a:off x="1179598" y="4878105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s-CL" sz="1600" dirty="0">
                <a:solidFill>
                  <a:srgbClr val="000000"/>
                </a:solidFill>
                <a:latin typeface="Alexandria Medium" pitchFamily="34" charset="0"/>
                <a:cs typeface="Alexandria Medium" pitchFamily="34" charset="-120"/>
              </a:rPr>
              <a:t>4</a:t>
            </a:r>
            <a:endParaRPr lang="en-US" sz="1600" dirty="0"/>
          </a:p>
        </p:txBody>
      </p:sp>
      <p:sp>
        <p:nvSpPr>
          <p:cNvPr id="54" name="Text 3">
            <a:extLst>
              <a:ext uri="{FF2B5EF4-FFF2-40B4-BE49-F238E27FC236}">
                <a16:creationId xmlns:a16="http://schemas.microsoft.com/office/drawing/2014/main" id="{31CED4FD-7CB1-5AB2-7965-A17B16F5F858}"/>
              </a:ext>
            </a:extLst>
          </p:cNvPr>
          <p:cNvSpPr/>
          <p:nvPr/>
        </p:nvSpPr>
        <p:spPr>
          <a:xfrm>
            <a:off x="1190579" y="5834418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s-CL" sz="1600" dirty="0">
                <a:solidFill>
                  <a:srgbClr val="000000"/>
                </a:solidFill>
                <a:latin typeface="Alexandria Medium" pitchFamily="34" charset="0"/>
                <a:cs typeface="Alexandria Medium" pitchFamily="34" charset="-120"/>
              </a:rPr>
              <a:t>5</a:t>
            </a:r>
            <a:endParaRPr lang="en-US" sz="1600" dirty="0"/>
          </a:p>
        </p:txBody>
      </p:sp>
      <p:sp>
        <p:nvSpPr>
          <p:cNvPr id="55" name="Text 3">
            <a:extLst>
              <a:ext uri="{FF2B5EF4-FFF2-40B4-BE49-F238E27FC236}">
                <a16:creationId xmlns:a16="http://schemas.microsoft.com/office/drawing/2014/main" id="{44AB7315-6903-85DB-EB81-FE5688A9454B}"/>
              </a:ext>
            </a:extLst>
          </p:cNvPr>
          <p:cNvSpPr/>
          <p:nvPr/>
        </p:nvSpPr>
        <p:spPr>
          <a:xfrm>
            <a:off x="1189662" y="6808707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s-CL" sz="1600" dirty="0">
                <a:solidFill>
                  <a:srgbClr val="000000"/>
                </a:solidFill>
                <a:latin typeface="Alexandria Medium" pitchFamily="34" charset="0"/>
                <a:cs typeface="Alexandria Medium" pitchFamily="34" charset="-120"/>
              </a:rPr>
              <a:t>6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932" y="621387"/>
            <a:ext cx="3389828" cy="423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Próximos Pasos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0932" y="1383983"/>
            <a:ext cx="13048536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Mirando hacia el futuro, LogísticaHR tiene un gran potencial de crecimiento y evolución.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32" y="1845826"/>
            <a:ext cx="508397" cy="114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8755" y="2015252"/>
            <a:ext cx="3243977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Expansión de Funcionalidades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468755" y="2381607"/>
            <a:ext cx="12370713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Integración de módulos avanzados como gamificación para motivación de empleados o gestión de vacaciones.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31" y="3032165"/>
            <a:ext cx="508397" cy="1143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22953" y="3201591"/>
            <a:ext cx="2118598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Optimización Móvil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1722953" y="3567946"/>
            <a:ext cx="12116514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Desarrollo de una interfaz responsiva y posiblemente una aplicación móvil dedicada para acceso en campo.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329" y="4218503"/>
            <a:ext cx="508397" cy="1143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977152" y="4387929"/>
            <a:ext cx="2257782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Integración con ERPs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1977152" y="4754285"/>
            <a:ext cx="11862316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Conexión con sistemas de planificación de recursos empresariales para un flujo de datos más amplio.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647" y="5404842"/>
            <a:ext cx="508397" cy="1143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231469" y="5574268"/>
            <a:ext cx="2211586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Inteligencia Artificial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2231469" y="5940623"/>
            <a:ext cx="1160799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Implementación de algoritmos de IA para predicción de rendimiento o identificación de necesidades de capacitación.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329" y="6591181"/>
            <a:ext cx="508397" cy="11430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977152" y="6760607"/>
            <a:ext cx="2118598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Soporte Multilingüe</a:t>
            </a:r>
            <a:endParaRPr lang="en-US" sz="1650" dirty="0"/>
          </a:p>
        </p:txBody>
      </p:sp>
      <p:sp>
        <p:nvSpPr>
          <p:cNvPr id="18" name="Text 11"/>
          <p:cNvSpPr/>
          <p:nvPr/>
        </p:nvSpPr>
        <p:spPr>
          <a:xfrm>
            <a:off x="1977152" y="7126962"/>
            <a:ext cx="11862316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Adaptación a diferentes idiomas para una expansión internacional del producto.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1005</Words>
  <Application>Microsoft Office PowerPoint</Application>
  <PresentationFormat>Personalizado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Alexandria Medium</vt:lpstr>
      <vt:lpstr>Manrope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DUARTE Jazmin</cp:lastModifiedBy>
  <cp:revision>4</cp:revision>
  <dcterms:created xsi:type="dcterms:W3CDTF">2025-11-21T15:58:55Z</dcterms:created>
  <dcterms:modified xsi:type="dcterms:W3CDTF">2025-11-21T16:27:07Z</dcterms:modified>
</cp:coreProperties>
</file>